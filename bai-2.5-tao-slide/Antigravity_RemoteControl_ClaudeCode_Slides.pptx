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DIỄN GIẢ]</a:t>
            </a:r>
          </a:p>
          <a:p>
            <a:r>
              <a:t>Chào anh em! Chắc hẳn ai trong chúng ta khi dùng Antigravity chạy những task lớn như refactor cả module hay sinh hàng chục test cases đều từng gặp cảnh: vừa đi uống cốc cà phê quay lại thì máy tính đã ngủ gật, AI bị ngắt quãng giữa chừng, hoặc phải ngồi dán mắt vào màn hình chỉ để chờ bấm Approve.</a:t>
            </a:r>
          </a:p>
          <a:p>
            <a:r>
              <a:t>Chúng ta đang dùng AI để giải phóng sức lao động nhưng lại vô tình bị xích vào bàn làm việc vì những thiết lập mặc định chưa tối ưu.</a:t>
            </a:r>
          </a:p>
          <a:p>
            <a:r>
              <a:t>Hôm nay, mình sẽ chia sẻ với anh em 2 vũ khí cực mạnh: tính năng Remote Control điều khiển từ xa, bộ thiết lập App Settings sống còn, và cách chạy Claude Code với Model cục bộ hoàn toàn miễn phí, bảo mật qua Ollama.</a:t>
            </a:r>
          </a:p>
          <a:p>
            <a:r>
              <a:t>Nắm vững những tính năng này, anh em sẽ biến công cụ AI thành một trợ lý tự hành đúng nghĩa, làm việc xuyên suốt mọi lúc mọi nơi.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DIỄN GIẢ]</a:t>
            </a:r>
          </a:p>
          <a:p>
            <a:r>
              <a:t>Khi bắt đầu ứng dụng AI Agent vào công việc thực tế, hầu hết kỹ sư chúng ta đều va phải 4 rào cản rất khó chịu này.</a:t>
            </a:r>
          </a:p>
          <a:p>
            <a:r>
              <a:t>Thứ nhất là máy ngủ gật: vừa rời máy đi họp quay lại thấy màn hình đen ngòm và task bị lỗi đứt kết nối mạng.</a:t>
            </a:r>
          </a:p>
          <a:p>
            <a:r>
              <a:t>Thứ hai là bị xích vào bàn: AI sinh code thì nhanh nhưng cứ chốc chốc lại dừng chờ mình bấm Approve một lệnh terminal, thế là mình không dám đi đâu.</a:t>
            </a:r>
          </a:p>
          <a:p>
            <a:r>
              <a:t>Thứ ba là thói quen tiện tay bấm dấu X đóng cửa sổ: tắt luôn cả app, mất sạch context và các terminal tab.</a:t>
            </a:r>
          </a:p>
          <a:p>
            <a:r>
              <a:t>Và cuối cùng là nỗi lo bảo mật: nhiều dự án có cam kết NDA khách hàng cấm tuyệt đối gửi code lên cloud, cộng với chi phí token đắt đỏ khi phải debug lặp đi lặp lại.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DIỄN GIẢ]</a:t>
            </a:r>
          </a:p>
          <a:p>
            <a:r>
              <a:t>Để vượt qua 4 rào cản đó, chúng ta cần một sự chuyển dịch tư duy từ cách làm cũ sang chuẩn làm việc mới.</a:t>
            </a:r>
          </a:p>
          <a:p>
            <a:r>
              <a:t>Cách làm cũ là mô hình phụ thuộc hoàn toàn vào máy trạm: bạn phải ngồi dính chặt vào ghế, đi đâu là mù thông tin, và muốn remote thì phải bật TeamViewer nặng nề, giật lag.</a:t>
            </a:r>
          </a:p>
          <a:p>
            <a:r>
              <a:t>Còn với chuẩn Cross-Device Agentic mới: máy tính công ty cấu hình mạnh cứ việc cày code và chạy test, còn bạn thì cầm chiếc điện thoại đi lại tự do. Mọi thông báo hoàn thành, mọi yêu cầu phê duyệt lệnh đều đẩy về smartphone để bạn duyệt chỉ bằng một chạm tay.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DIỄN GIẢ]</a:t>
            </a:r>
          </a:p>
          <a:p>
            <a:r>
              <a:t>Vậy bản chất Antigravity Remote Control là gì?</a:t>
            </a:r>
          </a:p>
          <a:p>
            <a:r>
              <a:t>Anh em cần lưu ý: Nó hoàn toàn không phải là một công cụ remote desktop như TeamViewer.</a:t>
            </a:r>
          </a:p>
          <a:p>
            <a:r>
              <a:t>Nó là một cầu nối giao diện web trực tiếp vào session Antigravity đang chạy trên workstation của anh em.</a:t>
            </a:r>
          </a:p>
          <a:p>
            <a:r>
              <a:t>Toàn bộ mã nguồn, git branch, terminal và công cụ build vẫn chạy 100% tại máy trạm. Điện thoại chỉ đóng vai trò là một bảng điều khiển từ xa hiển thị danh sách file diff và khung chat.</a:t>
            </a:r>
          </a:p>
          <a:p>
            <a:r>
              <a:t>Nhờ đó, anh em có thể review code và ấn duyệt lệnh chỉ bằng một chạm trên điện thoại mà không tốn băng thông hay lo giật lag.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DIỄN GIẢ]</a:t>
            </a:r>
          </a:p>
          <a:p>
            <a:r>
              <a:t>Nhiều anh em sẽ thắc mắc: 'Điều khiển từ xa như vậy có lộ mã nguồn công ty ra ngoài không, thiết lập có phức tạp cần mở port modem không?'.</a:t>
            </a:r>
          </a:p>
          <a:p>
            <a:r>
              <a:t>Câu trả lời là hoàn toàn không. Google thiết kế cơ chế ghép nối này theo triết lý Zero Trust cực kỳ nghiêm ngặt.</a:t>
            </a:r>
          </a:p>
          <a:p>
            <a:r>
              <a:t>Bước 1: Anh em mở Settings bằng phím Ctrl + ,, vào mục Application và gạt nút 'Enable Remote Control'.</a:t>
            </a:r>
          </a:p>
          <a:p>
            <a:r>
              <a:t>Bước 2: Antigravity sẽ sinh ngay một mã QR Code bảo mật. Anh em chỉ cần giơ camera điện thoại lên quét, hoặc truy cập antigravity.google đăng nhập đúng tài khoản Google là kết nối thành công trong 2 giây.</a:t>
            </a:r>
          </a:p>
          <a:p>
            <a:r>
              <a:t>Toàn bộ phiên làm việc xác thực bằng Token handshake dùng một lần, dữ liệu truyền tải mã hóa end-to-end và không hề mở bất kỳ open port nào trên router nội bộ công 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DIỄN GIẢ]</a:t>
            </a:r>
          </a:p>
          <a:p>
            <a:r>
              <a:t>Đã bao giờ anh em giao cho Agent một task lớn trước khi đi ăn trưa, quay lại thấy màn hình đen ngòm và task bị failed vì máy rơi vào Sleep Mode chưa?</a:t>
            </a:r>
          </a:p>
          <a:p>
            <a:r>
              <a:t>Mặc định, Windows và macOS đều có chính sách tiết kiệm điện tự động ngủ sau một khoảng thời gian người dùng không gõ phím. Nhưng với AI Coding Agent, lúc chúng ta không chạm vào máy lại chính là lúc nó đang làm việc vất vả nhất.</a:t>
            </a:r>
          </a:p>
          <a:p>
            <a:r>
              <a:t>Tính năng 'Prevent Sleep' trong App Settings sinh ra để giải quyết triệt để vấn đề này. Khi được bật, Antigravity sẽ gửi tín hiệu giữ màn hình và hệ thống luôn thức (Awake) trong suốt thời gian Agent đang sinh mã hoặc chạy test.</a:t>
            </a:r>
          </a:p>
          <a:p>
            <a:r>
              <a:t>Và điều tuyệt vời là khi Agent hoàn thành xong toàn bộ công việc, hệ thống sẽ tự động nhả lock để máy tính quay về cơ chế sleep bình thường nhằm tiết kiệm điện.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DIỄN GIẢ]</a:t>
            </a:r>
          </a:p>
          <a:p>
            <a:r>
              <a:t>Có hai thiết lập nhỏ nhưng ảnh hưởng cực lớn đến trải nghiệm hàng ngày: tắt nhầm cửa sổ và lỡ mất thông báo.</a:t>
            </a:r>
          </a:p>
          <a:p>
            <a:r>
              <a:t>Về 'Keep In Menu Bar': Khi bật lên, Antigravity sẽ neo thường trực trên khay hệ thống. Bấm nút X chỉ là ẩn cửa sổ, app vẫn sống ngầm và sẵn sàng bật lên tức thì bằng phím tắt mà không mất ngữ cảnh.</a:t>
            </a:r>
          </a:p>
          <a:p>
            <a:r>
              <a:t>Về 'Notification Settings': Anh em lưu ý Antigravity đẩy toàn bộ việc quản lý thông báo về Settings của Windows/macOS. Anh em chỉ cần cấp quyền thông báo trong OS Settings là mỗi khi AI hoàn thành task hoặc cần phê duyệt, máy tính và điện thoại đều sẽ ting ting báo ngay.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DIỄN GIẢ]</a:t>
            </a:r>
          </a:p>
          <a:p>
            <a:r>
              <a:t>Sau khi đã làm chủ Antigravity, mình muốn chia sẻ thêm một kỹ thuật cực hot: Sử dụng Claude Code nhưng chạy bằng Model bên thứ 3 hoặc Model Local qua Ollama. Tại sao chúng ta lại cần điều này?</a:t>
            </a:r>
          </a:p>
          <a:p>
            <a:r>
              <a:t>Claude Code của Anthropic là một CLI agent xuất sắc nhất hiện nay về khả năng sửa code và chạy terminal, nhưng nó có 2 rào cản lớn: chi phí token API đắt đỏ và chính sách bảo mật dữ liệu công ty không cho phép gửi code lên cloud.</a:t>
            </a:r>
          </a:p>
          <a:p>
            <a:r>
              <a:t>Bằng cách đưa model bên thứ 3 thông qua Ollama, anh em giải quyết được cả 2 bài toán:</a:t>
            </a:r>
          </a:p>
          <a:p>
            <a:r>
              <a:t>Thứ nhất, code chạy hoàn toàn local trên GPU máy trạm, bảo mật 100%.</a:t>
            </a:r>
          </a:p>
          <a:p>
            <a:r>
              <a:t>Thứ hai, chi phí token bằng 0 khi dùng các mô hình mã nguồn mở hàng đầu như Qwen 2.5 Coder hay DeepSeek.</a:t>
            </a:r>
          </a:p>
          <a:p>
            <a:r>
              <a:t>Chúng ta vừa có 'bộ não' miễn phí/bảo mật, vừa có 'đôi tay' agentic cực kỳ linh hoạt của Claude Code.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DIỄN GIẢ]</a:t>
            </a:r>
          </a:p>
          <a:p>
            <a:r>
              <a:t>Nghe thì có vẻ phức tạp nhưng thực tế tích hợp chỉ mất đúng 5 giây với 1 dòng lệnh duy nhất.</a:t>
            </a:r>
          </a:p>
          <a:p>
            <a:r>
              <a:t>Nhờ Ollama mới đây đã hỗ trợ native giao thức Anthropic Messages API, việc cầu nối giữa Claude Code và Ollama diễn ra hoàn toàn trong suốt.</a:t>
            </a:r>
          </a:p>
          <a:p>
            <a:r>
              <a:t>Cách 1 đơn giản nhất: Anh em chỉ cần gõ 'ollama launch claude --model qwen2.5-coder'. Ollama sẽ tự động bridge và mở giao diện Claude Code kết nối trực tiếp vào model máy bạn.</a:t>
            </a:r>
          </a:p>
          <a:p>
            <a:r>
              <a:t>Cách 2 nếu muốn cấu hình cố định trong profile shell: Anh em set 2 biến môi trường ANTHROPIC_BASE_URL trỏ về localhost:11434 và ANTHROPIC_AUTH_TOKEN bằng ollama. Sau đó cứ gõ lệnh 'claude' bình thường!</a:t>
            </a:r>
          </a:p>
          <a:p>
            <a:r>
              <a:t>Agent vẫn tự động đọc file, tạo commit, chạy bash script và tìm kiếm code như khi dùng Claude 3.5 Sonnet xịn.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DIỄN GIẢ]</a:t>
            </a:r>
          </a:p>
          <a:p>
            <a:r>
              <a:t>Để khép lại bài chia sẻ hôm nay, mình muốn nhắn nhủ một điều: Công nghệ AI sinh ra là để phục vụ chúng ta, giúp chúng ta làm việc thông minh hơn chứ không phải ngồi gò lưng canh chừng máy tính nhiều hơn.</a:t>
            </a:r>
          </a:p>
          <a:p>
            <a:r>
              <a:t>Cả Antigravity Remote Control, App Settings và Claude Code tích hợp Ollama đều cùng hướng tới một mục tiêu duy nhất: Tự động hóa triệt để và an tâm tuyệt đối.</a:t>
            </a:r>
          </a:p>
          <a:p>
            <a:r>
              <a:t>Ngay sau buổi này, anh em chỉ cần dành 30 giây làm 3 việc:</a:t>
            </a:r>
          </a:p>
          <a:p>
            <a:r>
              <a:t>Một là gạt bật Remote Control trên Antigravity để sẵn sàng lái agent từ điện thoại.</a:t>
            </a:r>
          </a:p>
          <a:p>
            <a:r>
              <a:t>Hai là bật Prevent Sleep và Menu Bar resident.</a:t>
            </a:r>
          </a:p>
          <a:p>
            <a:r>
              <a:t>Và ba là thử gõ 'ollama launch claude' để trải nghiệm coding agent offline cực kỳ mạnh mẽ.</a:t>
            </a:r>
          </a:p>
          <a:p>
            <a:r>
              <a:t>Cảm ơn tất cả anh em đã theo dõi! Bây giờ mình xin mở phần Q&amp;A, anh em có câu hỏi hay muốn cùng quét QR thử nghiệm trực tiếp thì chúng ta cùng thảo luận nhé!</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144000" cy="320040"/>
          </a:xfrm>
          <a:prstGeom prst="rect">
            <a:avLst/>
          </a:prstGeom>
          <a:noFill/>
        </p:spPr>
        <p:txBody>
          <a:bodyPr wrap="square">
            <a:spAutoFit/>
          </a:bodyPr>
          <a:lstStyle/>
          <a:p>
            <a:pPr>
              <a:defRPr sz="1000" b="1">
                <a:solidFill>
                  <a:srgbClr val="818CF8"/>
                </a:solidFill>
                <a:latin typeface="Segoe UI"/>
              </a:defRPr>
            </a:pPr>
            <a:r>
              <a:t>⚡ CHUYÊN ĐỀ CÔNG NGHỆ NỘI BỘ • AI AGENT WORKFLOW</a:t>
            </a:r>
          </a:p>
        </p:txBody>
      </p:sp>
      <p:sp>
        <p:nvSpPr>
          <p:cNvPr id="4" name="TextBox 3"/>
          <p:cNvSpPr txBox="1"/>
          <p:nvPr/>
        </p:nvSpPr>
        <p:spPr>
          <a:xfrm>
            <a:off x="10058400" y="320040"/>
            <a:ext cx="1371600" cy="320040"/>
          </a:xfrm>
          <a:prstGeom prst="rect">
            <a:avLst/>
          </a:prstGeom>
          <a:noFill/>
        </p:spPr>
        <p:txBody>
          <a:bodyPr wrap="none">
            <a:spAutoFit/>
          </a:bodyPr>
          <a:lstStyle/>
          <a:p>
            <a:pPr algn="r">
              <a:defRPr sz="1100" b="1">
                <a:solidFill>
                  <a:srgbClr val="38BDF8"/>
                </a:solidFill>
                <a:latin typeface="Consolas"/>
              </a:defRPr>
            </a:pPr>
            <a:r>
              <a:t>01 / 10</a:t>
            </a:r>
          </a:p>
        </p:txBody>
      </p:sp>
      <p:sp>
        <p:nvSpPr>
          <p:cNvPr id="5" name="TextBox 4"/>
          <p:cNvSpPr txBox="1"/>
          <p:nvPr/>
        </p:nvSpPr>
        <p:spPr>
          <a:xfrm>
            <a:off x="731520" y="6446520"/>
            <a:ext cx="10698480" cy="274320"/>
          </a:xfrm>
          <a:prstGeom prst="rect">
            <a:avLst/>
          </a:prstGeom>
          <a:noFill/>
        </p:spPr>
        <p:txBody>
          <a:bodyPr wrap="none">
            <a:spAutoFit/>
          </a:bodyPr>
          <a:lstStyle/>
          <a:p>
            <a:pPr>
              <a:defRPr sz="900">
                <a:solidFill>
                  <a:srgbClr val="64748B"/>
                </a:solidFill>
                <a:latin typeface="Segoe UI"/>
              </a:defRPr>
            </a:pPr>
            <a:r>
              <a:t>Google Antigravity &amp; Claude Code • Internal Tech Sharing • 2026</a:t>
            </a:r>
          </a:p>
        </p:txBody>
      </p:sp>
      <p:sp>
        <p:nvSpPr>
          <p:cNvPr id="6" name="TextBox 5"/>
          <p:cNvSpPr txBox="1"/>
          <p:nvPr/>
        </p:nvSpPr>
        <p:spPr>
          <a:xfrm>
            <a:off x="731520" y="1005840"/>
            <a:ext cx="10698480" cy="2011680"/>
          </a:xfrm>
          <a:prstGeom prst="rect">
            <a:avLst/>
          </a:prstGeom>
          <a:noFill/>
        </p:spPr>
        <p:txBody>
          <a:bodyPr wrap="square">
            <a:spAutoFit/>
          </a:bodyPr>
          <a:lstStyle/>
          <a:p>
            <a:pPr>
              <a:defRPr sz="3200" b="1">
                <a:solidFill>
                  <a:srgbClr val="F8FAFC"/>
                </a:solidFill>
                <a:latin typeface="Segoe UI"/>
              </a:defRPr>
            </a:pPr>
            <a:r>
              <a:t>Tối Ưu Hóa Trải Nghiệm Phát Triển Với AI</a:t>
            </a:r>
          </a:p>
          <a:p>
            <a:pPr>
              <a:spcBef>
                <a:spcPts val="600"/>
              </a:spcBef>
              <a:defRPr sz="2100" b="1">
                <a:solidFill>
                  <a:srgbClr val="38BDF8"/>
                </a:solidFill>
                <a:latin typeface="Segoe UI"/>
              </a:defRPr>
            </a:pPr>
            <a:r>
              <a:t>Làm Chủ Antigravity Remote Control, App Settings &amp; Tích Hợp Claude Code</a:t>
            </a:r>
          </a:p>
          <a:p>
            <a:pPr>
              <a:spcBef>
                <a:spcPts val="800"/>
              </a:spcBef>
              <a:defRPr sz="1300">
                <a:solidFill>
                  <a:srgbClr val="94A3B8"/>
                </a:solidFill>
                <a:latin typeface="Segoe UI"/>
              </a:defRPr>
            </a:pPr>
            <a:r>
              <a:t>Giải phóng kỹ sư khỏi bàn làm việc, bảo vệ dữ liệu tuyệt đối và làm chủ luồng thực thi tự hành.</a:t>
            </a:r>
          </a:p>
        </p:txBody>
      </p:sp>
      <p:sp>
        <p:nvSpPr>
          <p:cNvPr id="7" name="Rounded Rectangle 6"/>
          <p:cNvSpPr/>
          <p:nvPr/>
        </p:nvSpPr>
        <p:spPr>
          <a:xfrm>
            <a:off x="731520" y="3291840"/>
            <a:ext cx="3383280" cy="2834640"/>
          </a:xfrm>
          <a:prstGeom prst="roundRect">
            <a:avLst/>
          </a:prstGeom>
          <a:solidFill>
            <a:srgbClr val="131B2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550" b="1">
                <a:solidFill>
                  <a:srgbClr val="38BDF8"/>
                </a:solidFill>
                <a:latin typeface="Segoe UI"/>
              </a:defRPr>
            </a:pPr>
            <a:r>
              <a:t>📱 Multi-Device Control</a:t>
            </a:r>
          </a:p>
          <a:p>
            <a:pPr>
              <a:spcBef>
                <a:spcPts val="1200"/>
              </a:spcBef>
              <a:defRPr sz="1200">
                <a:solidFill>
                  <a:srgbClr val="F8FAFC"/>
                </a:solidFill>
                <a:latin typeface="Segoe UI"/>
              </a:defRPr>
            </a:pPr>
            <a:r>
              <a:t>Lái AI Agent tự hành từ smartphone mọi lúc mọi nơi.</a:t>
            </a:r>
            <a:br/>
            <a:r>
              <a:t>Xem diff, duyệt lệnh bash và gửi prompt bổ sung tức thì khi đang di chuyển.</a:t>
            </a:r>
          </a:p>
        </p:txBody>
      </p:sp>
      <p:sp>
        <p:nvSpPr>
          <p:cNvPr id="8" name="Rounded Rectangle 7"/>
          <p:cNvSpPr/>
          <p:nvPr/>
        </p:nvSpPr>
        <p:spPr>
          <a:xfrm>
            <a:off x="4389120" y="3291840"/>
            <a:ext cx="3383280" cy="2834640"/>
          </a:xfrm>
          <a:prstGeom prst="roundRect">
            <a:avLst/>
          </a:prstGeom>
          <a:solidFill>
            <a:srgbClr val="131B2E"/>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550" b="1">
                <a:solidFill>
                  <a:srgbClr val="34D399"/>
                </a:solidFill>
                <a:latin typeface="Segoe UI"/>
              </a:defRPr>
            </a:pPr>
            <a:r>
              <a:t>☕ Continuous Execution</a:t>
            </a:r>
          </a:p>
          <a:p>
            <a:pPr>
              <a:spcBef>
                <a:spcPts val="1200"/>
              </a:spcBef>
              <a:defRPr sz="1200">
                <a:solidFill>
                  <a:srgbClr val="F8FAFC"/>
                </a:solidFill>
                <a:latin typeface="Segoe UI"/>
              </a:defRPr>
            </a:pPr>
            <a:r>
              <a:t>Ngăn máy tính ngủ gật trong lúc Agent viết code ngầm xuyên đêm.</a:t>
            </a:r>
            <a:br/>
            <a:r>
              <a:t>Tự động khóa và mở wake-lock cấp hệ điều hành khi hoàn thành task.</a:t>
            </a:r>
          </a:p>
        </p:txBody>
      </p:sp>
      <p:sp>
        <p:nvSpPr>
          <p:cNvPr id="9" name="Rounded Rectangle 8"/>
          <p:cNvSpPr/>
          <p:nvPr/>
        </p:nvSpPr>
        <p:spPr>
          <a:xfrm>
            <a:off x="8046720" y="3291840"/>
            <a:ext cx="3383280" cy="2834640"/>
          </a:xfrm>
          <a:prstGeom prst="roundRect">
            <a:avLst/>
          </a:prstGeom>
          <a:solidFill>
            <a:srgbClr val="131B2E"/>
          </a:solidFill>
          <a:ln w="190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550" b="1">
                <a:solidFill>
                  <a:srgbClr val="818CF8"/>
                </a:solidFill>
                <a:latin typeface="Segoe UI"/>
              </a:defRPr>
            </a:pPr>
            <a:r>
              <a:t>🔒 100% Offline &amp; Zero Cost</a:t>
            </a:r>
          </a:p>
          <a:p>
            <a:pPr>
              <a:spcBef>
                <a:spcPts val="1200"/>
              </a:spcBef>
              <a:defRPr sz="1200">
                <a:solidFill>
                  <a:srgbClr val="F8FAFC"/>
                </a:solidFill>
                <a:latin typeface="Segoe UI"/>
              </a:defRPr>
            </a:pPr>
            <a:r>
              <a:t>Tích hợp mô hình cục bộ qua Ollama vào thẳng Claude Code.</a:t>
            </a:r>
            <a:br/>
            <a:r>
              <a:t>Bảo vệ 100% mã nguồn dự án tuyệt mật và cắt giảm toàn bộ chi phí token API.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144000" cy="320040"/>
          </a:xfrm>
          <a:prstGeom prst="rect">
            <a:avLst/>
          </a:prstGeom>
          <a:noFill/>
        </p:spPr>
        <p:txBody>
          <a:bodyPr wrap="square">
            <a:spAutoFit/>
          </a:bodyPr>
          <a:lstStyle/>
          <a:p>
            <a:pPr>
              <a:defRPr sz="1000" b="1">
                <a:solidFill>
                  <a:srgbClr val="818CF8"/>
                </a:solidFill>
                <a:latin typeface="Segoe UI"/>
              </a:defRPr>
            </a:pPr>
            <a:r>
              <a:t>⚠️ THỰC TRẠNG &amp; RÀO CẢN THƯỜNG GẶP</a:t>
            </a:r>
          </a:p>
        </p:txBody>
      </p:sp>
      <p:sp>
        <p:nvSpPr>
          <p:cNvPr id="4" name="TextBox 3"/>
          <p:cNvSpPr txBox="1"/>
          <p:nvPr/>
        </p:nvSpPr>
        <p:spPr>
          <a:xfrm>
            <a:off x="10058400" y="320040"/>
            <a:ext cx="1371600" cy="320040"/>
          </a:xfrm>
          <a:prstGeom prst="rect">
            <a:avLst/>
          </a:prstGeom>
          <a:noFill/>
        </p:spPr>
        <p:txBody>
          <a:bodyPr wrap="none">
            <a:spAutoFit/>
          </a:bodyPr>
          <a:lstStyle/>
          <a:p>
            <a:pPr algn="r">
              <a:defRPr sz="1100" b="1">
                <a:solidFill>
                  <a:srgbClr val="38BDF8"/>
                </a:solidFill>
                <a:latin typeface="Consolas"/>
              </a:defRPr>
            </a:pPr>
            <a:r>
              <a:t>02 / 10</a:t>
            </a:r>
          </a:p>
        </p:txBody>
      </p:sp>
      <p:sp>
        <p:nvSpPr>
          <p:cNvPr id="5" name="TextBox 4"/>
          <p:cNvSpPr txBox="1"/>
          <p:nvPr/>
        </p:nvSpPr>
        <p:spPr>
          <a:xfrm>
            <a:off x="731520" y="6446520"/>
            <a:ext cx="10698480" cy="274320"/>
          </a:xfrm>
          <a:prstGeom prst="rect">
            <a:avLst/>
          </a:prstGeom>
          <a:noFill/>
        </p:spPr>
        <p:txBody>
          <a:bodyPr wrap="none">
            <a:spAutoFit/>
          </a:bodyPr>
          <a:lstStyle/>
          <a:p>
            <a:pPr>
              <a:defRPr sz="900">
                <a:solidFill>
                  <a:srgbClr val="64748B"/>
                </a:solidFill>
                <a:latin typeface="Segoe UI"/>
              </a:defRPr>
            </a:pPr>
            <a:r>
              <a:t>Google Antigravity &amp; Claude Code • Internal Tech Sharing • 2026</a:t>
            </a:r>
          </a:p>
        </p:txBody>
      </p:sp>
      <p:sp>
        <p:nvSpPr>
          <p:cNvPr id="6" name="TextBox 5"/>
          <p:cNvSpPr txBox="1"/>
          <p:nvPr/>
        </p:nvSpPr>
        <p:spPr>
          <a:xfrm>
            <a:off x="731520" y="749808"/>
            <a:ext cx="10698480" cy="1005840"/>
          </a:xfrm>
          <a:prstGeom prst="rect">
            <a:avLst/>
          </a:prstGeom>
          <a:noFill/>
        </p:spPr>
        <p:txBody>
          <a:bodyPr wrap="square" lIns="0" tIns="0" rIns="0" bIns="0">
            <a:spAutoFit/>
          </a:bodyPr>
          <a:lstStyle/>
          <a:p>
            <a:pPr>
              <a:defRPr sz="2500" b="1">
                <a:solidFill>
                  <a:srgbClr val="F8FAFC"/>
                </a:solidFill>
                <a:latin typeface="Segoe UI"/>
              </a:defRPr>
            </a:pPr>
            <a:r>
              <a:t>Bốn Rào Cản Khi Vận Hành AI Coding Agent</a:t>
            </a:r>
          </a:p>
          <a:p>
            <a:pPr>
              <a:spcBef>
                <a:spcPts val="300"/>
              </a:spcBef>
              <a:defRPr sz="1250">
                <a:solidFill>
                  <a:srgbClr val="94A3B8"/>
                </a:solidFill>
                <a:latin typeface="Segoe UI"/>
              </a:defRPr>
            </a:pPr>
            <a:r>
              <a:t>AI giải phóng sức lao động nhưng các thiết lập mặc định lại trói chân kỹ sư vào bàn làm việc.</a:t>
            </a:r>
          </a:p>
        </p:txBody>
      </p:sp>
      <p:sp>
        <p:nvSpPr>
          <p:cNvPr id="7" name="Rounded Rectangle 6"/>
          <p:cNvSpPr/>
          <p:nvPr/>
        </p:nvSpPr>
        <p:spPr>
          <a:xfrm>
            <a:off x="731520" y="1920240"/>
            <a:ext cx="5212080" cy="2011680"/>
          </a:xfrm>
          <a:prstGeom prst="roundRect">
            <a:avLst/>
          </a:prstGeom>
          <a:solidFill>
            <a:srgbClr val="131B2E"/>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r>
              <a:rPr b="1" sz="1350">
                <a:solidFill>
                  <a:srgbClr val="F43F5E"/>
                </a:solidFill>
                <a:latin typeface="Segoe UI"/>
              </a:rPr>
              <a:t>❌ Máy ngủ gật (Sleep Mode):
</a:t>
            </a:r>
            <a:r>
              <a:rPr sz="1150">
                <a:solidFill>
                  <a:srgbClr val="F8FAFC"/>
                </a:solidFill>
                <a:latin typeface="Segoe UI"/>
              </a:rPr>
              <a:t>Windows và macOS tự động chuyển sang chế độ Sleep sau 10-15 phút không thao tác bàn phím/chuột. Khi đó kết nối mạng bị ngắt, tiến trình AI bị suspend và task lớn bị hỏng dở dang.</a:t>
            </a:r>
          </a:p>
        </p:txBody>
      </p:sp>
      <p:sp>
        <p:nvSpPr>
          <p:cNvPr id="8" name="Rounded Rectangle 7"/>
          <p:cNvSpPr/>
          <p:nvPr/>
        </p:nvSpPr>
        <p:spPr>
          <a:xfrm>
            <a:off x="6217920" y="1920240"/>
            <a:ext cx="5212080" cy="2011680"/>
          </a:xfrm>
          <a:prstGeom prst="roundRect">
            <a:avLst/>
          </a:prstGeom>
          <a:solidFill>
            <a:srgbClr val="131B2E"/>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r>
              <a:rPr b="1" sz="1350">
                <a:solidFill>
                  <a:srgbClr val="F43F5E"/>
                </a:solidFill>
                <a:latin typeface="Segoe UI"/>
              </a:rPr>
              <a:t>❌ Bị xích vào bàn làm việc:
</a:t>
            </a:r>
            <a:r>
              <a:rPr sz="1150">
                <a:solidFill>
                  <a:srgbClr val="F8FAFC"/>
                </a:solidFill>
                <a:latin typeface="Segoe UI"/>
              </a:rPr>
              <a:t>Kỹ sư phải ngồi dán mắt vào màn hình chỉ để chờ Agent sinh xong code rồi bấm nút Approve lệnh bash hoặc tool calling, làm gián đoạn mọi hoạt động khác.</a:t>
            </a:r>
          </a:p>
        </p:txBody>
      </p:sp>
      <p:sp>
        <p:nvSpPr>
          <p:cNvPr id="9" name="Rounded Rectangle 8"/>
          <p:cNvSpPr/>
          <p:nvPr/>
        </p:nvSpPr>
        <p:spPr>
          <a:xfrm>
            <a:off x="731520" y="4160520"/>
            <a:ext cx="5212080" cy="2011680"/>
          </a:xfrm>
          <a:prstGeom prst="roundRect">
            <a:avLst/>
          </a:prstGeom>
          <a:solidFill>
            <a:srgbClr val="131B2E"/>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r>
              <a:rPr b="1" sz="1350">
                <a:solidFill>
                  <a:srgbClr val="F43F5E"/>
                </a:solidFill>
                <a:latin typeface="Segoe UI"/>
              </a:rPr>
              <a:t>❌ Đóng nhầm cửa sổ:
</a:t>
            </a:r>
            <a:r>
              <a:rPr sz="1150">
                <a:solidFill>
                  <a:srgbClr val="F8FAFC"/>
                </a:solidFill>
                <a:latin typeface="Segoe UI"/>
              </a:rPr>
              <a:t>Thói quen bấm nút 'X' để đóng cửa sổ làm tắt luôn cả tiến trình Antigravity đang chạy ngầm, làm mất sạch ngữ cảnh làm việc và các phiên terminal đang mở.</a:t>
            </a:r>
          </a:p>
        </p:txBody>
      </p:sp>
      <p:sp>
        <p:nvSpPr>
          <p:cNvPr id="10" name="Rounded Rectangle 9"/>
          <p:cNvSpPr/>
          <p:nvPr/>
        </p:nvSpPr>
        <p:spPr>
          <a:xfrm>
            <a:off x="6217920" y="4160520"/>
            <a:ext cx="5212080" cy="2011680"/>
          </a:xfrm>
          <a:prstGeom prst="roundRect">
            <a:avLst/>
          </a:prstGeom>
          <a:solidFill>
            <a:srgbClr val="131B2E"/>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r>
              <a:rPr b="1" sz="1350">
                <a:solidFill>
                  <a:srgbClr val="F43F5E"/>
                </a:solidFill>
                <a:latin typeface="Segoe UI"/>
              </a:rPr>
              <a:t>❌ Nguy cơ lộ mã nguồn dự án:
</a:t>
            </a:r>
            <a:r>
              <a:rPr sz="1150">
                <a:solidFill>
                  <a:srgbClr val="F8FAFC"/>
                </a:solidFill>
                <a:latin typeface="Segoe UI"/>
              </a:rPr>
              <a:t>Sử dụng các Cloud Agent tiềm ẩn nguy cơ rò rỉ source code nhạy cảm vi phạm cam kết bảo mật NDA của khách hàng, đồng thời làm phát sinh chi phí token API đắt đỏ.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144000" cy="320040"/>
          </a:xfrm>
          <a:prstGeom prst="rect">
            <a:avLst/>
          </a:prstGeom>
          <a:noFill/>
        </p:spPr>
        <p:txBody>
          <a:bodyPr wrap="square">
            <a:spAutoFit/>
          </a:bodyPr>
          <a:lstStyle/>
          <a:p>
            <a:pPr>
              <a:defRPr sz="1000" b="1">
                <a:solidFill>
                  <a:srgbClr val="818CF8"/>
                </a:solidFill>
                <a:latin typeface="Segoe UI"/>
              </a:defRPr>
            </a:pPr>
            <a:r>
              <a:t>🌐 BỨC TRANH MỚI • TỰ DO HÓA KỸ SƯ</a:t>
            </a:r>
          </a:p>
        </p:txBody>
      </p:sp>
      <p:sp>
        <p:nvSpPr>
          <p:cNvPr id="4" name="TextBox 3"/>
          <p:cNvSpPr txBox="1"/>
          <p:nvPr/>
        </p:nvSpPr>
        <p:spPr>
          <a:xfrm>
            <a:off x="10058400" y="320040"/>
            <a:ext cx="1371600" cy="320040"/>
          </a:xfrm>
          <a:prstGeom prst="rect">
            <a:avLst/>
          </a:prstGeom>
          <a:noFill/>
        </p:spPr>
        <p:txBody>
          <a:bodyPr wrap="none">
            <a:spAutoFit/>
          </a:bodyPr>
          <a:lstStyle/>
          <a:p>
            <a:pPr algn="r">
              <a:defRPr sz="1100" b="1">
                <a:solidFill>
                  <a:srgbClr val="38BDF8"/>
                </a:solidFill>
                <a:latin typeface="Consolas"/>
              </a:defRPr>
            </a:pPr>
            <a:r>
              <a:t>03 / 10</a:t>
            </a:r>
          </a:p>
        </p:txBody>
      </p:sp>
      <p:sp>
        <p:nvSpPr>
          <p:cNvPr id="5" name="TextBox 4"/>
          <p:cNvSpPr txBox="1"/>
          <p:nvPr/>
        </p:nvSpPr>
        <p:spPr>
          <a:xfrm>
            <a:off x="731520" y="6446520"/>
            <a:ext cx="10698480" cy="274320"/>
          </a:xfrm>
          <a:prstGeom prst="rect">
            <a:avLst/>
          </a:prstGeom>
          <a:noFill/>
        </p:spPr>
        <p:txBody>
          <a:bodyPr wrap="none">
            <a:spAutoFit/>
          </a:bodyPr>
          <a:lstStyle/>
          <a:p>
            <a:pPr>
              <a:defRPr sz="900">
                <a:solidFill>
                  <a:srgbClr val="64748B"/>
                </a:solidFill>
                <a:latin typeface="Segoe UI"/>
              </a:defRPr>
            </a:pPr>
            <a:r>
              <a:t>Google Antigravity &amp; Claude Code • Internal Tech Sharing • 2026</a:t>
            </a:r>
          </a:p>
        </p:txBody>
      </p:sp>
      <p:sp>
        <p:nvSpPr>
          <p:cNvPr id="6" name="TextBox 5"/>
          <p:cNvSpPr txBox="1"/>
          <p:nvPr/>
        </p:nvSpPr>
        <p:spPr>
          <a:xfrm>
            <a:off x="731520" y="749808"/>
            <a:ext cx="10698480" cy="1005840"/>
          </a:xfrm>
          <a:prstGeom prst="rect">
            <a:avLst/>
          </a:prstGeom>
          <a:noFill/>
        </p:spPr>
        <p:txBody>
          <a:bodyPr wrap="square" lIns="0" tIns="0" rIns="0" bIns="0">
            <a:spAutoFit/>
          </a:bodyPr>
          <a:lstStyle/>
          <a:p>
            <a:pPr>
              <a:defRPr sz="2500" b="1">
                <a:solidFill>
                  <a:srgbClr val="F8FAFC"/>
                </a:solidFill>
                <a:latin typeface="Segoe UI"/>
              </a:defRPr>
            </a:pPr>
            <a:r>
              <a:t>Chuyển Dịch Từ Gò Bó Sang Tự Do Hóa Quy Trình</a:t>
            </a:r>
          </a:p>
          <a:p>
            <a:pPr>
              <a:spcBef>
                <a:spcPts val="300"/>
              </a:spcBef>
              <a:defRPr sz="1250">
                <a:solidFill>
                  <a:srgbClr val="94A3B8"/>
                </a:solidFill>
                <a:latin typeface="Segoe UI"/>
              </a:defRPr>
            </a:pPr>
            <a:r>
              <a:t>Đối chiếu sự khác biệt giữa mô hình làm việc truyền thống và kỷ nguyên Cross-Device Agentic.</a:t>
            </a:r>
          </a:p>
        </p:txBody>
      </p:sp>
      <p:sp>
        <p:nvSpPr>
          <p:cNvPr id="7" name="Rounded Rectangle 6"/>
          <p:cNvSpPr/>
          <p:nvPr/>
        </p:nvSpPr>
        <p:spPr>
          <a:xfrm>
            <a:off x="731520" y="1920240"/>
            <a:ext cx="5212080" cy="4251960"/>
          </a:xfrm>
          <a:prstGeom prst="roundRect">
            <a:avLst/>
          </a:prstGeom>
          <a:solidFill>
            <a:srgbClr val="131B2E"/>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550" b="1">
                <a:solidFill>
                  <a:srgbClr val="F59E0B"/>
                </a:solidFill>
                <a:latin typeface="Segoe UI"/>
              </a:defRPr>
            </a:pPr>
            <a:r>
              <a:t>🏢 Cách Làm Cũ (Workstation Bound)</a:t>
            </a:r>
          </a:p>
          <a:p>
            <a:pPr>
              <a:spcBef>
                <a:spcPts val="800"/>
              </a:spcBef>
            </a:pPr>
            <a:r>
              <a:rPr b="1" sz="1150">
                <a:solidFill>
                  <a:srgbClr val="F8FAFC"/>
                </a:solidFill>
              </a:rPr>
              <a:t>• Gò bó vị trí địa lý:
</a:t>
            </a:r>
            <a:r>
              <a:rPr sz="1100">
                <a:solidFill>
                  <a:srgbClr val="94A3B8"/>
                </a:solidFill>
              </a:rPr>
              <a:t> Bắt buộc phải ngồi trực tiếp trước màn hình máy tính công ty để theo dõi Agent sinh mã nguồn.</a:t>
            </a:r>
          </a:p>
          <a:p>
            <a:pPr>
              <a:spcBef>
                <a:spcPts val="800"/>
              </a:spcBef>
            </a:pPr>
            <a:r>
              <a:rPr b="1" sz="1150">
                <a:solidFill>
                  <a:srgbClr val="F8FAFC"/>
                </a:solidFill>
              </a:rPr>
              <a:t>• Mù thông tin khi di chuyển:
</a:t>
            </a:r>
            <a:r>
              <a:rPr sz="1100">
                <a:solidFill>
                  <a:srgbClr val="94A3B8"/>
                </a:solidFill>
              </a:rPr>
              <a:t> Rời bàn làm việc đi họp hay ăn trưa là hoàn toàn mất kiểm soát về tiến độ thực thi của AI.</a:t>
            </a:r>
          </a:p>
          <a:p>
            <a:pPr>
              <a:spcBef>
                <a:spcPts val="800"/>
              </a:spcBef>
            </a:pPr>
            <a:r>
              <a:rPr b="1" sz="1150">
                <a:solidFill>
                  <a:srgbClr val="F8FAFC"/>
                </a:solidFill>
              </a:rPr>
              <a:t>• Phê duyệt thủ công chậm trễ:
</a:t>
            </a:r>
            <a:r>
              <a:rPr sz="1100">
                <a:solidFill>
                  <a:srgbClr val="94A3B8"/>
                </a:solidFill>
              </a:rPr>
              <a:t> Agent dừng lại chờ câu trả lời xác nhận (Bash tool / Prompt approval), cả quy trình bị tắc nghẽn hàng giờ.</a:t>
            </a:r>
          </a:p>
          <a:p>
            <a:pPr>
              <a:spcBef>
                <a:spcPts val="800"/>
              </a:spcBef>
            </a:pPr>
            <a:r>
              <a:rPr b="1" sz="1150">
                <a:solidFill>
                  <a:srgbClr val="F8FAFC"/>
                </a:solidFill>
              </a:rPr>
              <a:t>• Remote Desktop nặng nề:
</a:t>
            </a:r>
            <a:r>
              <a:rPr sz="1100">
                <a:solidFill>
                  <a:srgbClr val="94A3B8"/>
                </a:solidFill>
              </a:rPr>
              <a:t> Dùng TeamViewer hay AnyDesk ngốn băng thông lớn, thao tác chậm chạp và giật lag trên smartphone.</a:t>
            </a:r>
          </a:p>
        </p:txBody>
      </p:sp>
      <p:sp>
        <p:nvSpPr>
          <p:cNvPr id="8" name="Rounded Rectangle 7"/>
          <p:cNvSpPr/>
          <p:nvPr/>
        </p:nvSpPr>
        <p:spPr>
          <a:xfrm>
            <a:off x="6217920" y="1920240"/>
            <a:ext cx="5212080" cy="4251960"/>
          </a:xfrm>
          <a:prstGeom prst="roundRect">
            <a:avLst/>
          </a:prstGeom>
          <a:solidFill>
            <a:srgbClr val="131B2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550" b="1">
                <a:solidFill>
                  <a:srgbClr val="38BDF8"/>
                </a:solidFill>
                <a:latin typeface="Segoe UI"/>
              </a:defRPr>
            </a:pPr>
            <a:r>
              <a:t>⚡ Chuẩn Mới (Cross-Device Agentic)</a:t>
            </a:r>
          </a:p>
          <a:p>
            <a:pPr>
              <a:spcBef>
                <a:spcPts val="800"/>
              </a:spcBef>
            </a:pPr>
            <a:r>
              <a:rPr b="1" sz="1150">
                <a:solidFill>
                  <a:srgbClr val="34D399"/>
                </a:solidFill>
              </a:rPr>
              <a:t>✔ Tự do di chuyển tuyệt đối:
</a:t>
            </a:r>
            <a:r>
              <a:rPr sz="1100">
                <a:solidFill>
                  <a:srgbClr val="F8FAFC"/>
                </a:solidFill>
              </a:rPr>
              <a:t> Theo dõi diff code, tiến độ subagent và logs thời gian thực trên điện thoại khi đang di chuyển.</a:t>
            </a:r>
          </a:p>
          <a:p>
            <a:pPr>
              <a:spcBef>
                <a:spcPts val="800"/>
              </a:spcBef>
            </a:pPr>
            <a:r>
              <a:rPr b="1" sz="1150">
                <a:solidFill>
                  <a:srgbClr val="34D399"/>
                </a:solidFill>
              </a:rPr>
              <a:t>✔ Phê duyệt một chạm tức thì:
</a:t>
            </a:r>
            <a:r>
              <a:rPr sz="1100">
                <a:solidFill>
                  <a:srgbClr val="F8FAFC"/>
                </a:solidFill>
              </a:rPr>
              <a:t> Nhấn 'Approve' hoặc nhập prompt bổ sung trực tiếp từ trình duyệt smartphone chỉ với một lần chạm.</a:t>
            </a:r>
          </a:p>
          <a:p>
            <a:pPr>
              <a:spcBef>
                <a:spcPts val="800"/>
              </a:spcBef>
            </a:pPr>
            <a:r>
              <a:rPr b="1" sz="1150">
                <a:solidFill>
                  <a:srgbClr val="34D399"/>
                </a:solidFill>
              </a:rPr>
              <a:t>✔ Giữ nguyên môi trường máy trạm:
</a:t>
            </a:r>
            <a:r>
              <a:rPr sz="1100">
                <a:solidFill>
                  <a:srgbClr val="F8FAFC"/>
                </a:solidFill>
              </a:rPr>
              <a:t> Workstation chịu trách nhiệm build, test và commit; điện thoại đóng vai trò bảng điều khiển siêu nhẹ.</a:t>
            </a:r>
          </a:p>
          <a:p>
            <a:pPr>
              <a:spcBef>
                <a:spcPts val="800"/>
              </a:spcBef>
            </a:pPr>
            <a:r>
              <a:rPr b="1" sz="1150">
                <a:solidFill>
                  <a:srgbClr val="34D399"/>
                </a:solidFill>
              </a:rPr>
              <a:t>✔ Độc lập mạng nội bộ:
</a:t>
            </a:r>
            <a:r>
              <a:rPr sz="1100">
                <a:solidFill>
                  <a:srgbClr val="F8FAFC"/>
                </a:solidFill>
              </a:rPr>
              <a:t> Bạn có thể ngồi ở quán cà phê dùng 4G điều khiển máy trạm công ty an toàn mà không cần cài đặt VPN phức tạp.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144000" cy="320040"/>
          </a:xfrm>
          <a:prstGeom prst="rect">
            <a:avLst/>
          </a:prstGeom>
          <a:noFill/>
        </p:spPr>
        <p:txBody>
          <a:bodyPr wrap="square">
            <a:spAutoFit/>
          </a:bodyPr>
          <a:lstStyle/>
          <a:p>
            <a:pPr>
              <a:defRPr sz="1000" b="1">
                <a:solidFill>
                  <a:srgbClr val="818CF8"/>
                </a:solidFill>
                <a:latin typeface="Segoe UI"/>
              </a:defRPr>
            </a:pPr>
            <a:r>
              <a:t>🌐 TÍNH NĂNG ĐỘT PHÁ • CROSS-DEVICE AGENT</a:t>
            </a:r>
          </a:p>
        </p:txBody>
      </p:sp>
      <p:sp>
        <p:nvSpPr>
          <p:cNvPr id="4" name="TextBox 3"/>
          <p:cNvSpPr txBox="1"/>
          <p:nvPr/>
        </p:nvSpPr>
        <p:spPr>
          <a:xfrm>
            <a:off x="10058400" y="320040"/>
            <a:ext cx="1371600" cy="320040"/>
          </a:xfrm>
          <a:prstGeom prst="rect">
            <a:avLst/>
          </a:prstGeom>
          <a:noFill/>
        </p:spPr>
        <p:txBody>
          <a:bodyPr wrap="none">
            <a:spAutoFit/>
          </a:bodyPr>
          <a:lstStyle/>
          <a:p>
            <a:pPr algn="r">
              <a:defRPr sz="1100" b="1">
                <a:solidFill>
                  <a:srgbClr val="38BDF8"/>
                </a:solidFill>
                <a:latin typeface="Consolas"/>
              </a:defRPr>
            </a:pPr>
            <a:r>
              <a:t>04 / 10</a:t>
            </a:r>
          </a:p>
        </p:txBody>
      </p:sp>
      <p:sp>
        <p:nvSpPr>
          <p:cNvPr id="5" name="TextBox 4"/>
          <p:cNvSpPr txBox="1"/>
          <p:nvPr/>
        </p:nvSpPr>
        <p:spPr>
          <a:xfrm>
            <a:off x="731520" y="6446520"/>
            <a:ext cx="10698480" cy="274320"/>
          </a:xfrm>
          <a:prstGeom prst="rect">
            <a:avLst/>
          </a:prstGeom>
          <a:noFill/>
        </p:spPr>
        <p:txBody>
          <a:bodyPr wrap="none">
            <a:spAutoFit/>
          </a:bodyPr>
          <a:lstStyle/>
          <a:p>
            <a:pPr>
              <a:defRPr sz="900">
                <a:solidFill>
                  <a:srgbClr val="64748B"/>
                </a:solidFill>
                <a:latin typeface="Segoe UI"/>
              </a:defRPr>
            </a:pPr>
            <a:r>
              <a:t>Google Antigravity &amp; Claude Code • Internal Tech Sharing • 2026</a:t>
            </a:r>
          </a:p>
        </p:txBody>
      </p:sp>
      <p:sp>
        <p:nvSpPr>
          <p:cNvPr id="6" name="TextBox 5"/>
          <p:cNvSpPr txBox="1"/>
          <p:nvPr/>
        </p:nvSpPr>
        <p:spPr>
          <a:xfrm>
            <a:off x="731520" y="749808"/>
            <a:ext cx="10698480" cy="1005840"/>
          </a:xfrm>
          <a:prstGeom prst="rect">
            <a:avLst/>
          </a:prstGeom>
          <a:noFill/>
        </p:spPr>
        <p:txBody>
          <a:bodyPr wrap="square" lIns="0" tIns="0" rIns="0" bIns="0">
            <a:spAutoFit/>
          </a:bodyPr>
          <a:lstStyle/>
          <a:p>
            <a:pPr>
              <a:defRPr sz="2500" b="1">
                <a:solidFill>
                  <a:srgbClr val="F8FAFC"/>
                </a:solidFill>
                <a:latin typeface="Segoe UI"/>
              </a:defRPr>
            </a:pPr>
            <a:r>
              <a:t>Antigravity Remote Control Là Gì?</a:t>
            </a:r>
          </a:p>
          <a:p>
            <a:pPr>
              <a:spcBef>
                <a:spcPts val="300"/>
              </a:spcBef>
              <a:defRPr sz="1250">
                <a:solidFill>
                  <a:srgbClr val="94A3B8"/>
                </a:solidFill>
                <a:latin typeface="Segoe UI"/>
              </a:defRPr>
            </a:pPr>
            <a:r>
              <a:t>Giải pháp điều khiển, giám sát và tương tác với AI Agent từ xa qua nền tảng web bảo mật.</a:t>
            </a:r>
          </a:p>
        </p:txBody>
      </p:sp>
      <p:sp>
        <p:nvSpPr>
          <p:cNvPr id="7" name="Rounded Rectangle 6"/>
          <p:cNvSpPr/>
          <p:nvPr/>
        </p:nvSpPr>
        <p:spPr>
          <a:xfrm>
            <a:off x="731520" y="1920240"/>
            <a:ext cx="4389120" cy="4251960"/>
          </a:xfrm>
          <a:prstGeom prst="roundRect">
            <a:avLst/>
          </a:prstGeom>
          <a:solidFill>
            <a:srgbClr val="05081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200" b="1">
                <a:solidFill>
                  <a:srgbClr val="38BDF8"/>
                </a:solidFill>
                <a:latin typeface="Consolas"/>
              </a:defRPr>
            </a:pPr>
            <a:r>
              <a:t>PHÂN ĐỊNH RANH GIỚI HỆ THỐNG</a:t>
            </a:r>
          </a:p>
          <a:p>
            <a:pPr>
              <a:spcBef>
                <a:spcPts val="1200"/>
              </a:spcBef>
            </a:pPr>
            <a:r>
              <a:rPr b="1" sz="1200">
                <a:solidFill>
                  <a:srgbClr val="818CF8"/>
                </a:solidFill>
                <a:latin typeface="Segoe UI"/>
              </a:rPr>
              <a:t>🖥️ WORKSTATION (MÁY TRẠM)
</a:t>
            </a:r>
            <a:r>
              <a:rPr sz="1050">
                <a:solidFill>
                  <a:srgbClr val="94A3B8"/>
                </a:solidFill>
                <a:latin typeface="Segoe UI"/>
              </a:rPr>
              <a:t>Chịu 100% trách nhiệm tính toán nặng:
• Source Code, Git branches &amp; Worktrees
• Trình chạy Test, Compiler &amp; Linter
• Toàn bộ API Secrets &amp; Token nằm tại máy</a:t>
            </a:r>
          </a:p>
          <a:p>
            <a:pPr>
              <a:spcBef>
                <a:spcPts val="1200"/>
              </a:spcBef>
            </a:pPr>
            <a:r>
              <a:rPr b="1" sz="1200">
                <a:solidFill>
                  <a:srgbClr val="34D399"/>
                </a:solidFill>
                <a:latin typeface="Segoe UI"/>
              </a:rPr>
              <a:t>📱 SMARTPHONE (CLIENT TỪ XA)
</a:t>
            </a:r>
            <a:r>
              <a:rPr sz="1050">
                <a:solidFill>
                  <a:srgbClr val="94A3B8"/>
                </a:solidFill>
                <a:latin typeface="Segoe UI"/>
              </a:rPr>
              <a:t>Giao diện Web UI siêu nhẹ:
• Xem logs tiến độ thời gian thực
• Nút Approve 1 chạm duyệt bash/tool
• Nhập prompt bổ sung ngay lập tức</a:t>
            </a:r>
          </a:p>
        </p:txBody>
      </p:sp>
      <p:sp>
        <p:nvSpPr>
          <p:cNvPr id="8" name="Rounded Rectangle 7"/>
          <p:cNvSpPr/>
          <p:nvPr/>
        </p:nvSpPr>
        <p:spPr>
          <a:xfrm>
            <a:off x="5394960" y="1920240"/>
            <a:ext cx="6035040" cy="4251960"/>
          </a:xfrm>
          <a:prstGeom prst="roundRect">
            <a:avLst/>
          </a:prstGeom>
          <a:solidFill>
            <a:srgbClr val="131B2E"/>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550" b="1">
                <a:solidFill>
                  <a:srgbClr val="38BDF8"/>
                </a:solidFill>
                <a:latin typeface="Segoe UI"/>
              </a:defRPr>
            </a:pPr>
            <a:r>
              <a:t>⚡ ĐẶC ĐIỂM CỐT LÕI CỦA REMOTE CONTROL</a:t>
            </a:r>
          </a:p>
          <a:p>
            <a:pPr>
              <a:spcBef>
                <a:spcPts val="800"/>
              </a:spcBef>
            </a:pPr>
            <a:r>
              <a:rPr b="1" sz="1150">
                <a:solidFill>
                  <a:srgbClr val="F8FAFC"/>
                </a:solidFill>
              </a:rPr>
              <a:t>• Không phải Remote Desktop: </a:t>
            </a:r>
            <a:r>
              <a:rPr sz="1100">
                <a:solidFill>
                  <a:srgbClr val="94A3B8"/>
                </a:solidFill>
              </a:rPr>
              <a:t>Remote Control không truyền tải hình ảnh màn hình nặng nề ngốn băng thông, mà truyền trực tiếp dữ liệu trạng thái qua web socket nhẹ nhàng.</a:t>
            </a:r>
          </a:p>
          <a:p>
            <a:pPr>
              <a:spcBef>
                <a:spcPts val="800"/>
              </a:spcBef>
            </a:pPr>
            <a:r>
              <a:rPr b="1" sz="1150">
                <a:solidFill>
                  <a:srgbClr val="F8FAFC"/>
                </a:solidFill>
              </a:rPr>
              <a:t>• Máy trạm giữ quyền điều phối: </a:t>
            </a:r>
            <a:r>
              <a:rPr sz="1100">
                <a:solidFill>
                  <a:srgbClr val="94A3B8"/>
                </a:solidFill>
              </a:rPr>
              <a:t>Toàn bộ mã nguồn dự án, git branches, terminal build và các công cụ thực thi nằm nguyên vẹn tại máy trạm công ty.</a:t>
            </a:r>
          </a:p>
          <a:p>
            <a:pPr>
              <a:spcBef>
                <a:spcPts val="800"/>
              </a:spcBef>
            </a:pPr>
            <a:r>
              <a:rPr b="1" sz="1150">
                <a:solidFill>
                  <a:srgbClr val="F8FAFC"/>
                </a:solidFill>
              </a:rPr>
              <a:t>• Trải nghiệm mượt mà trên di động: </a:t>
            </a:r>
            <a:r>
              <a:rPr sz="1100">
                <a:solidFill>
                  <a:srgbClr val="94A3B8"/>
                </a:solidFill>
              </a:rPr>
              <a:t>Giao diện web được tối ưu riêng cho màn hình cảm ứng, hiển thị danh sách artifacts và diff code cực kỳ sắc nét.</a:t>
            </a:r>
          </a:p>
          <a:p>
            <a:pPr>
              <a:spcBef>
                <a:spcPts val="800"/>
              </a:spcBef>
            </a:pPr>
            <a:r>
              <a:rPr b="1" sz="1150">
                <a:solidFill>
                  <a:srgbClr val="F8FAFC"/>
                </a:solidFill>
              </a:rPr>
              <a:t>• Độc lập mạng nội bộ: </a:t>
            </a:r>
            <a:r>
              <a:rPr sz="1100">
                <a:solidFill>
                  <a:srgbClr val="94A3B8"/>
                </a:solidFill>
              </a:rPr>
              <a:t>Bạn có thể ngồi ở quán cà phê dùng 4G điều khiển máy trạm công ty an toàn mà không cần cài đặt VPN phức tạp.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144000" cy="320040"/>
          </a:xfrm>
          <a:prstGeom prst="rect">
            <a:avLst/>
          </a:prstGeom>
          <a:noFill/>
        </p:spPr>
        <p:txBody>
          <a:bodyPr wrap="square">
            <a:spAutoFit/>
          </a:bodyPr>
          <a:lstStyle/>
          <a:p>
            <a:pPr>
              <a:defRPr sz="1000" b="1">
                <a:solidFill>
                  <a:srgbClr val="818CF8"/>
                </a:solidFill>
                <a:latin typeface="Segoe UI"/>
              </a:defRPr>
            </a:pPr>
            <a:r>
              <a:t>🔐 CƠ CHẾ VẬN HÀNH • BẢO MẬT ZERO TRUST</a:t>
            </a:r>
          </a:p>
        </p:txBody>
      </p:sp>
      <p:sp>
        <p:nvSpPr>
          <p:cNvPr id="4" name="TextBox 3"/>
          <p:cNvSpPr txBox="1"/>
          <p:nvPr/>
        </p:nvSpPr>
        <p:spPr>
          <a:xfrm>
            <a:off x="10058400" y="320040"/>
            <a:ext cx="1371600" cy="320040"/>
          </a:xfrm>
          <a:prstGeom prst="rect">
            <a:avLst/>
          </a:prstGeom>
          <a:noFill/>
        </p:spPr>
        <p:txBody>
          <a:bodyPr wrap="none">
            <a:spAutoFit/>
          </a:bodyPr>
          <a:lstStyle/>
          <a:p>
            <a:pPr algn="r">
              <a:defRPr sz="1100" b="1">
                <a:solidFill>
                  <a:srgbClr val="38BDF8"/>
                </a:solidFill>
                <a:latin typeface="Consolas"/>
              </a:defRPr>
            </a:pPr>
            <a:r>
              <a:t>05 / 10</a:t>
            </a:r>
          </a:p>
        </p:txBody>
      </p:sp>
      <p:sp>
        <p:nvSpPr>
          <p:cNvPr id="5" name="TextBox 4"/>
          <p:cNvSpPr txBox="1"/>
          <p:nvPr/>
        </p:nvSpPr>
        <p:spPr>
          <a:xfrm>
            <a:off x="731520" y="6446520"/>
            <a:ext cx="10698480" cy="274320"/>
          </a:xfrm>
          <a:prstGeom prst="rect">
            <a:avLst/>
          </a:prstGeom>
          <a:noFill/>
        </p:spPr>
        <p:txBody>
          <a:bodyPr wrap="none">
            <a:spAutoFit/>
          </a:bodyPr>
          <a:lstStyle/>
          <a:p>
            <a:pPr>
              <a:defRPr sz="900">
                <a:solidFill>
                  <a:srgbClr val="64748B"/>
                </a:solidFill>
                <a:latin typeface="Segoe UI"/>
              </a:defRPr>
            </a:pPr>
            <a:r>
              <a:t>Google Antigravity &amp; Claude Code • Internal Tech Sharing • 2026</a:t>
            </a:r>
          </a:p>
        </p:txBody>
      </p:sp>
      <p:sp>
        <p:nvSpPr>
          <p:cNvPr id="6" name="TextBox 5"/>
          <p:cNvSpPr txBox="1"/>
          <p:nvPr/>
        </p:nvSpPr>
        <p:spPr>
          <a:xfrm>
            <a:off x="731520" y="749808"/>
            <a:ext cx="10698480" cy="1005840"/>
          </a:xfrm>
          <a:prstGeom prst="rect">
            <a:avLst/>
          </a:prstGeom>
          <a:noFill/>
        </p:spPr>
        <p:txBody>
          <a:bodyPr wrap="square" lIns="0" tIns="0" rIns="0" bIns="0">
            <a:spAutoFit/>
          </a:bodyPr>
          <a:lstStyle/>
          <a:p>
            <a:pPr>
              <a:defRPr sz="2500" b="1">
                <a:solidFill>
                  <a:srgbClr val="F8FAFC"/>
                </a:solidFill>
                <a:latin typeface="Segoe UI"/>
              </a:defRPr>
            </a:pPr>
            <a:r>
              <a:t>Sơ Đồ Luồng Ghép Nối &amp; Kiến Trúc Bảo Mật</a:t>
            </a:r>
          </a:p>
          <a:p>
            <a:pPr>
              <a:spcBef>
                <a:spcPts val="300"/>
              </a:spcBef>
              <a:defRPr sz="1250">
                <a:solidFill>
                  <a:srgbClr val="94A3B8"/>
                </a:solidFill>
                <a:latin typeface="Segoe UI"/>
              </a:defRPr>
            </a:pPr>
            <a:r>
              <a:t>Cách kết nối thiết bị trong 10 giây và kiến trúc bảo vệ dữ liệu chuẩn Zero Trust.</a:t>
            </a:r>
          </a:p>
        </p:txBody>
      </p:sp>
      <p:sp>
        <p:nvSpPr>
          <p:cNvPr id="7" name="Rounded Rectangle 6"/>
          <p:cNvSpPr/>
          <p:nvPr/>
        </p:nvSpPr>
        <p:spPr>
          <a:xfrm>
            <a:off x="731520" y="1920240"/>
            <a:ext cx="2926080" cy="1325880"/>
          </a:xfrm>
          <a:prstGeom prst="roundRect">
            <a:avLst/>
          </a:prstGeom>
          <a:solidFill>
            <a:srgbClr val="131B2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250" b="1">
                <a:solidFill>
                  <a:srgbClr val="F8FAFC"/>
                </a:solidFill>
                <a:latin typeface="Segoe UI"/>
              </a:defRPr>
            </a:pPr>
            <a:r>
              <a:t>🖥️ MÁY TRẠM (HOST)</a:t>
            </a:r>
          </a:p>
          <a:p>
            <a:pPr>
              <a:spcBef>
                <a:spcPts val="400"/>
              </a:spcBef>
              <a:defRPr sz="1000">
                <a:solidFill>
                  <a:srgbClr val="94A3B8"/>
                </a:solidFill>
                <a:latin typeface="Segoe UI"/>
              </a:defRPr>
            </a:pPr>
            <a:r>
              <a:t>Workstation Antigravity</a:t>
            </a:r>
            <a:br/>
            <a:r>
              <a:t>Giữ mã nguồn, test &amp; git</a:t>
            </a:r>
          </a:p>
        </p:txBody>
      </p:sp>
      <p:sp>
        <p:nvSpPr>
          <p:cNvPr id="8" name="Right Arrow 7"/>
          <p:cNvSpPr/>
          <p:nvPr/>
        </p:nvSpPr>
        <p:spPr>
          <a:xfrm>
            <a:off x="3703320" y="2418588"/>
            <a:ext cx="548640" cy="329184"/>
          </a:xfrm>
          <a:prstGeom prst="rightArrow">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617720" y="1920240"/>
            <a:ext cx="2926080" cy="1325880"/>
          </a:xfrm>
          <a:prstGeom prst="roundRect">
            <a:avLst/>
          </a:prstGeom>
          <a:solidFill>
            <a:srgbClr val="131B2E"/>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250" b="1">
                <a:solidFill>
                  <a:srgbClr val="F8FAFC"/>
                </a:solidFill>
                <a:latin typeface="Segoe UI"/>
              </a:defRPr>
            </a:pPr>
            <a:r>
              <a:t>🔐 CỔNG GHÉP NỐI (PROXY)</a:t>
            </a:r>
          </a:p>
          <a:p>
            <a:pPr>
              <a:spcBef>
                <a:spcPts val="400"/>
              </a:spcBef>
              <a:defRPr sz="1000">
                <a:solidFill>
                  <a:srgbClr val="94A3B8"/>
                </a:solidFill>
                <a:latin typeface="Segoe UI"/>
              </a:defRPr>
            </a:pPr>
            <a:r>
              <a:t>Mã QR &amp; Token Handshake</a:t>
            </a:r>
            <a:br/>
            <a:r>
              <a:t>Không mở port Firewall / NAT</a:t>
            </a:r>
          </a:p>
        </p:txBody>
      </p:sp>
      <p:sp>
        <p:nvSpPr>
          <p:cNvPr id="10" name="Right Arrow 9"/>
          <p:cNvSpPr/>
          <p:nvPr/>
        </p:nvSpPr>
        <p:spPr>
          <a:xfrm>
            <a:off x="7589520" y="2418588"/>
            <a:ext cx="548640" cy="329184"/>
          </a:xfrm>
          <a:prstGeom prst="rightArrow">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503920" y="1920240"/>
            <a:ext cx="2926080" cy="1325880"/>
          </a:xfrm>
          <a:prstGeom prst="roundRect">
            <a:avLst/>
          </a:prstGeom>
          <a:solidFill>
            <a:srgbClr val="131B2E"/>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250" b="1">
                <a:solidFill>
                  <a:srgbClr val="F8FAFC"/>
                </a:solidFill>
                <a:latin typeface="Segoe UI"/>
              </a:defRPr>
            </a:pPr>
            <a:r>
              <a:t>📱 CLIENT TỪ XA (WEB)</a:t>
            </a:r>
          </a:p>
          <a:p>
            <a:pPr>
              <a:spcBef>
                <a:spcPts val="400"/>
              </a:spcBef>
              <a:defRPr sz="1000">
                <a:solidFill>
                  <a:srgbClr val="94A3B8"/>
                </a:solidFill>
                <a:latin typeface="Segoe UI"/>
              </a:defRPr>
            </a:pPr>
            <a:r>
              <a:t>Trình duyệt Smartphone</a:t>
            </a:r>
            <a:br/>
            <a:r>
              <a:t>Kết nối mã hóa E2E hai chiều</a:t>
            </a:r>
          </a:p>
        </p:txBody>
      </p:sp>
      <p:sp>
        <p:nvSpPr>
          <p:cNvPr id="12" name="Rounded Rectangle 11"/>
          <p:cNvSpPr/>
          <p:nvPr/>
        </p:nvSpPr>
        <p:spPr>
          <a:xfrm>
            <a:off x="731520" y="3474720"/>
            <a:ext cx="3383280" cy="2606040"/>
          </a:xfrm>
          <a:prstGeom prst="roundRect">
            <a:avLst/>
          </a:prstGeom>
          <a:solidFill>
            <a:srgbClr val="131B2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050" b="1">
                <a:solidFill>
                  <a:srgbClr val="38BDF8"/>
                </a:solidFill>
                <a:latin typeface="Segoe UI"/>
              </a:defRPr>
            </a:pPr>
            <a:r>
              <a:t>BƯỚC 1: KÍCH HOẠT</a:t>
            </a:r>
          </a:p>
          <a:p>
            <a:pPr>
              <a:spcBef>
                <a:spcPts val="300"/>
              </a:spcBef>
              <a:defRPr sz="1400" b="1">
                <a:solidFill>
                  <a:srgbClr val="F8FAFC"/>
                </a:solidFill>
                <a:latin typeface="Segoe UI"/>
              </a:defRPr>
            </a:pPr>
            <a:r>
              <a:t>⚙️ Bật Trong Settings</a:t>
            </a:r>
          </a:p>
          <a:p>
            <a:pPr>
              <a:spcBef>
                <a:spcPts val="600"/>
              </a:spcBef>
            </a:pPr>
            <a:r>
              <a:rPr b="1" sz="1100">
                <a:solidFill>
                  <a:srgbClr val="F8FAFC"/>
                </a:solidFill>
              </a:rPr>
              <a:t>• Mở Settings nhanh chóng:</a:t>
            </a:r>
            <a:r>
              <a:rPr sz="1050">
                <a:solidFill>
                  <a:srgbClr val="94A3B8"/>
                </a:solidFill>
              </a:rPr>
              <a:t> Phím tắt Ctrl + , (hoặc Cmd + , trên Mac), vào mục Application và gạt nút 'Enable Remote Control' sang ON trong 10 giây.</a:t>
            </a:r>
          </a:p>
          <a:p>
            <a:pPr>
              <a:spcBef>
                <a:spcPts val="600"/>
              </a:spcBef>
            </a:pPr>
            <a:r>
              <a:rPr b="1" sz="1100">
                <a:solidFill>
                  <a:srgbClr val="F8FAFC"/>
                </a:solidFill>
              </a:rPr>
              <a:t>• Khởi động qua CLI:</a:t>
            </a:r>
            <a:r>
              <a:rPr sz="1050">
                <a:solidFill>
                  <a:srgbClr val="94A3B8"/>
                </a:solidFill>
              </a:rPr>
              <a:t> Hoặc gõ lệnh 'agy --remote-control' hay slash command '/remote-control' ngay trong terminal.</a:t>
            </a:r>
          </a:p>
        </p:txBody>
      </p:sp>
      <p:sp>
        <p:nvSpPr>
          <p:cNvPr id="13" name="Rounded Rectangle 12"/>
          <p:cNvSpPr/>
          <p:nvPr/>
        </p:nvSpPr>
        <p:spPr>
          <a:xfrm>
            <a:off x="4389120" y="3474720"/>
            <a:ext cx="3383280" cy="2606040"/>
          </a:xfrm>
          <a:prstGeom prst="roundRect">
            <a:avLst/>
          </a:prstGeom>
          <a:solidFill>
            <a:srgbClr val="131B2E"/>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050" b="1">
                <a:solidFill>
                  <a:srgbClr val="6366F1"/>
                </a:solidFill>
                <a:latin typeface="Segoe UI"/>
              </a:defRPr>
            </a:pPr>
            <a:r>
              <a:t>BƯỚC 2: GHÉP NỐI</a:t>
            </a:r>
          </a:p>
          <a:p>
            <a:pPr>
              <a:spcBef>
                <a:spcPts val="300"/>
              </a:spcBef>
              <a:defRPr sz="1400" b="1">
                <a:solidFill>
                  <a:srgbClr val="F8FAFC"/>
                </a:solidFill>
                <a:latin typeface="Segoe UI"/>
              </a:defRPr>
            </a:pPr>
            <a:r>
              <a:t>📱 Quét Mã QR &amp; Token</a:t>
            </a:r>
          </a:p>
          <a:p>
            <a:pPr>
              <a:spcBef>
                <a:spcPts val="600"/>
              </a:spcBef>
            </a:pPr>
            <a:r>
              <a:rPr b="1" sz="1100">
                <a:solidFill>
                  <a:srgbClr val="F8FAFC"/>
                </a:solidFill>
              </a:rPr>
              <a:t>• Mã QR bảo mật dùng 1 lần:</a:t>
            </a:r>
            <a:r>
              <a:rPr sz="1050">
                <a:solidFill>
                  <a:srgbClr val="94A3B8"/>
                </a:solidFill>
              </a:rPr>
              <a:t> Máy tính sinh ngay một QR Handshake động trên màn hình, dùng camera điện thoại quét để truy cập ngay.</a:t>
            </a:r>
          </a:p>
          <a:p>
            <a:pPr>
              <a:spcBef>
                <a:spcPts val="600"/>
              </a:spcBef>
            </a:pPr>
            <a:r>
              <a:rPr b="1" sz="1100">
                <a:solidFill>
                  <a:srgbClr val="F8FAFC"/>
                </a:solidFill>
              </a:rPr>
              <a:t>• Đăng nhập qua Web SSO:</a:t>
            </a:r>
            <a:r>
              <a:rPr sz="1050">
                <a:solidFill>
                  <a:srgbClr val="94A3B8"/>
                </a:solidFill>
              </a:rPr>
              <a:t> Hoặc vào trang antigravity.google đăng nhập tài khoản Google để quản lý các máy trạm.</a:t>
            </a:r>
          </a:p>
        </p:txBody>
      </p:sp>
      <p:sp>
        <p:nvSpPr>
          <p:cNvPr id="14" name="Rounded Rectangle 13"/>
          <p:cNvSpPr/>
          <p:nvPr/>
        </p:nvSpPr>
        <p:spPr>
          <a:xfrm>
            <a:off x="8046720" y="3474720"/>
            <a:ext cx="3383280" cy="2606040"/>
          </a:xfrm>
          <a:prstGeom prst="roundRect">
            <a:avLst/>
          </a:prstGeom>
          <a:solidFill>
            <a:srgbClr val="131B2E"/>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050" b="1">
                <a:solidFill>
                  <a:srgbClr val="34D399"/>
                </a:solidFill>
                <a:latin typeface="Segoe UI"/>
              </a:defRPr>
            </a:pPr>
            <a:r>
              <a:t>TIÊU CHUẨN AN TOÀN</a:t>
            </a:r>
          </a:p>
          <a:p>
            <a:pPr>
              <a:spcBef>
                <a:spcPts val="300"/>
              </a:spcBef>
              <a:defRPr sz="1400" b="1">
                <a:solidFill>
                  <a:srgbClr val="F8FAFC"/>
                </a:solidFill>
                <a:latin typeface="Segoe UI"/>
              </a:defRPr>
            </a:pPr>
            <a:r>
              <a:t>🛡️ Bảo Mật Doanh Nghiệp</a:t>
            </a:r>
          </a:p>
          <a:p>
            <a:pPr>
              <a:spcBef>
                <a:spcPts val="600"/>
              </a:spcBef>
            </a:pPr>
            <a:r>
              <a:rPr b="1" sz="1100">
                <a:solidFill>
                  <a:srgbClr val="F8FAFC"/>
                </a:solidFill>
              </a:rPr>
              <a:t>• Chuẩn bảo mật Zero Trust:</a:t>
            </a:r>
            <a:r>
              <a:rPr sz="1050">
                <a:solidFill>
                  <a:srgbClr val="94A3B8"/>
                </a:solidFill>
              </a:rPr>
              <a:t> Hoạt động hoàn toàn phía sau tường lửa (Firewall) và VPN công ty, không mở bất kỳ cổng Open Port nào.</a:t>
            </a:r>
          </a:p>
          <a:p>
            <a:pPr>
              <a:spcBef>
                <a:spcPts val="600"/>
              </a:spcBef>
            </a:pPr>
            <a:r>
              <a:rPr b="1" sz="1100">
                <a:solidFill>
                  <a:srgbClr val="F8FAFC"/>
                </a:solidFill>
              </a:rPr>
              <a:t>• Boundary bất khả xâm phạm:</a:t>
            </a:r>
            <a:r>
              <a:rPr sz="1050">
                <a:solidFill>
                  <a:srgbClr val="94A3B8"/>
                </a:solidFill>
              </a:rPr>
              <a:t> Toàn bộ mã nguồn, token Git và secrets nằm nguyên vẹn tại máy trạm, không bị gửi ra ngoài.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144000" cy="320040"/>
          </a:xfrm>
          <a:prstGeom prst="rect">
            <a:avLst/>
          </a:prstGeom>
          <a:noFill/>
        </p:spPr>
        <p:txBody>
          <a:bodyPr wrap="square">
            <a:spAutoFit/>
          </a:bodyPr>
          <a:lstStyle/>
          <a:p>
            <a:pPr>
              <a:defRPr sz="1000" b="1">
                <a:solidFill>
                  <a:srgbClr val="818CF8"/>
                </a:solidFill>
                <a:latin typeface="Segoe UI"/>
              </a:defRPr>
            </a:pPr>
            <a:r>
              <a:t>☕ CÀI ĐẶT HỆ THỐNG • LIÊN TỤC KHÔNG GIÁN ĐOẠN</a:t>
            </a:r>
          </a:p>
        </p:txBody>
      </p:sp>
      <p:sp>
        <p:nvSpPr>
          <p:cNvPr id="4" name="TextBox 3"/>
          <p:cNvSpPr txBox="1"/>
          <p:nvPr/>
        </p:nvSpPr>
        <p:spPr>
          <a:xfrm>
            <a:off x="10058400" y="320040"/>
            <a:ext cx="1371600" cy="320040"/>
          </a:xfrm>
          <a:prstGeom prst="rect">
            <a:avLst/>
          </a:prstGeom>
          <a:noFill/>
        </p:spPr>
        <p:txBody>
          <a:bodyPr wrap="none">
            <a:spAutoFit/>
          </a:bodyPr>
          <a:lstStyle/>
          <a:p>
            <a:pPr algn="r">
              <a:defRPr sz="1100" b="1">
                <a:solidFill>
                  <a:srgbClr val="38BDF8"/>
                </a:solidFill>
                <a:latin typeface="Consolas"/>
              </a:defRPr>
            </a:pPr>
            <a:r>
              <a:t>06 / 10</a:t>
            </a:r>
          </a:p>
        </p:txBody>
      </p:sp>
      <p:sp>
        <p:nvSpPr>
          <p:cNvPr id="5" name="TextBox 4"/>
          <p:cNvSpPr txBox="1"/>
          <p:nvPr/>
        </p:nvSpPr>
        <p:spPr>
          <a:xfrm>
            <a:off x="731520" y="6446520"/>
            <a:ext cx="10698480" cy="274320"/>
          </a:xfrm>
          <a:prstGeom prst="rect">
            <a:avLst/>
          </a:prstGeom>
          <a:noFill/>
        </p:spPr>
        <p:txBody>
          <a:bodyPr wrap="none">
            <a:spAutoFit/>
          </a:bodyPr>
          <a:lstStyle/>
          <a:p>
            <a:pPr>
              <a:defRPr sz="900">
                <a:solidFill>
                  <a:srgbClr val="64748B"/>
                </a:solidFill>
                <a:latin typeface="Segoe UI"/>
              </a:defRPr>
            </a:pPr>
            <a:r>
              <a:t>Google Antigravity &amp; Claude Code • Internal Tech Sharing • 2026</a:t>
            </a:r>
          </a:p>
        </p:txBody>
      </p:sp>
      <p:sp>
        <p:nvSpPr>
          <p:cNvPr id="6" name="TextBox 5"/>
          <p:cNvSpPr txBox="1"/>
          <p:nvPr/>
        </p:nvSpPr>
        <p:spPr>
          <a:xfrm>
            <a:off x="731520" y="749808"/>
            <a:ext cx="10698480" cy="1005840"/>
          </a:xfrm>
          <a:prstGeom prst="rect">
            <a:avLst/>
          </a:prstGeom>
          <a:noFill/>
        </p:spPr>
        <p:txBody>
          <a:bodyPr wrap="square" lIns="0" tIns="0" rIns="0" bIns="0">
            <a:spAutoFit/>
          </a:bodyPr>
          <a:lstStyle/>
          <a:p>
            <a:pPr>
              <a:defRPr sz="2500" b="1">
                <a:solidFill>
                  <a:srgbClr val="F8FAFC"/>
                </a:solidFill>
                <a:latin typeface="Segoe UI"/>
              </a:defRPr>
            </a:pPr>
            <a:r>
              <a:t>App Settings: Cơ Chế Prevent Sleep</a:t>
            </a:r>
          </a:p>
          <a:p>
            <a:pPr>
              <a:spcBef>
                <a:spcPts val="300"/>
              </a:spcBef>
              <a:defRPr sz="1250">
                <a:solidFill>
                  <a:srgbClr val="94A3B8"/>
                </a:solidFill>
                <a:latin typeface="Segoe UI"/>
              </a:defRPr>
            </a:pPr>
            <a:r>
              <a:t>Ngăn hệ thống tự động tắt màn hình và đưa PC vào chế độ ngủ khi AI đang làm việc.</a:t>
            </a:r>
          </a:p>
        </p:txBody>
      </p:sp>
      <p:sp>
        <p:nvSpPr>
          <p:cNvPr id="7" name="Rounded Rectangle 6"/>
          <p:cNvSpPr/>
          <p:nvPr/>
        </p:nvSpPr>
        <p:spPr>
          <a:xfrm>
            <a:off x="731520" y="1920240"/>
            <a:ext cx="5212080" cy="4251960"/>
          </a:xfrm>
          <a:prstGeom prst="roundRect">
            <a:avLst/>
          </a:prstGeom>
          <a:solidFill>
            <a:srgbClr val="131B2E"/>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550" b="1">
                <a:solidFill>
                  <a:srgbClr val="F59E0B"/>
                </a:solidFill>
                <a:latin typeface="Segoe UI"/>
              </a:defRPr>
            </a:pPr>
            <a:r>
              <a:t>⚠️ THỰC TRẠNG &amp; NGUY CƠ SLEEP MODE</a:t>
            </a:r>
          </a:p>
          <a:p>
            <a:pPr>
              <a:spcBef>
                <a:spcPts val="1200"/>
              </a:spcBef>
            </a:pPr>
            <a:r>
              <a:rPr b="1" sz="1200">
                <a:solidFill>
                  <a:srgbClr val="F8FAFC"/>
                </a:solidFill>
              </a:rPr>
              <a:t>• Mặc định hệ điều hành ngắt kết nối:
</a:t>
            </a:r>
            <a:r>
              <a:rPr sz="1100">
                <a:solidFill>
                  <a:srgbClr val="94A3B8"/>
                </a:solidFill>
              </a:rPr>
              <a:t> Windows và macOS tự động đưa máy vào chế độ Sleep sau 10-15 phút không có thao tác phím chuột để tiết kiệm điện năng.</a:t>
            </a:r>
          </a:p>
          <a:p>
            <a:pPr>
              <a:spcBef>
                <a:spcPts val="1200"/>
              </a:spcBef>
            </a:pPr>
            <a:r>
              <a:rPr b="1" sz="1200">
                <a:solidFill>
                  <a:srgbClr val="F8FAFC"/>
                </a:solidFill>
              </a:rPr>
              <a:t>• AI Agent bị suspend giữa chừng:
</a:t>
            </a:r>
            <a:r>
              <a:rPr sz="1100">
                <a:solidFill>
                  <a:srgbClr val="94A3B8"/>
                </a:solidFill>
              </a:rPr>
              <a:t> Khi máy ngủ gật, toàn bộ kết nối mạng và socket bị ngắt, tiến trình AI đang viết code, sinh test hoặc chạy benchmark ngầm bị dừng đột ngột.</a:t>
            </a:r>
          </a:p>
          <a:p>
            <a:pPr>
              <a:spcBef>
                <a:spcPts val="1200"/>
              </a:spcBef>
            </a:pPr>
            <a:r>
              <a:rPr b="1" sz="1200">
                <a:solidFill>
                  <a:srgbClr val="F8FAFC"/>
                </a:solidFill>
              </a:rPr>
              <a:t>• Lãng phí thời gian &amp; Token:
</a:t>
            </a:r>
            <a:r>
              <a:rPr sz="1100">
                <a:solidFill>
                  <a:srgbClr val="94A3B8"/>
                </a:solidFill>
              </a:rPr>
              <a:t> Kỹ sư quay lại sau giờ ăn trưa mới phát hiện task bị hỏng dở dang, buộc phải khởi động lại từ đầu và tốn thêm chi phí token không đáng có.</a:t>
            </a:r>
          </a:p>
        </p:txBody>
      </p:sp>
      <p:sp>
        <p:nvSpPr>
          <p:cNvPr id="8" name="Rounded Rectangle 7"/>
          <p:cNvSpPr/>
          <p:nvPr/>
        </p:nvSpPr>
        <p:spPr>
          <a:xfrm>
            <a:off x="6217920" y="1920240"/>
            <a:ext cx="5212080" cy="4251960"/>
          </a:xfrm>
          <a:prstGeom prst="roundRect">
            <a:avLst/>
          </a:prstGeom>
          <a:solidFill>
            <a:srgbClr val="131B2E"/>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550" b="1">
                <a:solidFill>
                  <a:srgbClr val="34D399"/>
                </a:solidFill>
                <a:latin typeface="Segoe UI"/>
              </a:defRPr>
            </a:pPr>
            <a:r>
              <a:t>⚡ CƠ CHẾ PREVENT SLEEP THÔNG MINH</a:t>
            </a:r>
          </a:p>
          <a:p>
            <a:pPr>
              <a:spcBef>
                <a:spcPts val="1200"/>
              </a:spcBef>
            </a:pPr>
            <a:r>
              <a:rPr b="1" sz="1200">
                <a:solidFill>
                  <a:srgbClr val="34D399"/>
                </a:solidFill>
              </a:rPr>
              <a:t>✔ Kích hoạt Wake-Lock cấp Kernel:
</a:t>
            </a:r>
            <a:r>
              <a:rPr sz="1100">
                <a:solidFill>
                  <a:srgbClr val="F8FAFC"/>
                </a:solidFill>
              </a:rPr>
              <a:t> Khi Agent bắt đầu thực thi chuỗi task dài, Antigravity tự động kích hoạt API kernel hệ điều hành để giữ hệ thống luôn thức (Awake) ổn định.</a:t>
            </a:r>
          </a:p>
          <a:p>
            <a:pPr>
              <a:spcBef>
                <a:spcPts val="1200"/>
              </a:spcBef>
            </a:pPr>
            <a:r>
              <a:rPr b="1" sz="1200">
                <a:solidFill>
                  <a:srgbClr val="34D399"/>
                </a:solidFill>
              </a:rPr>
              <a:t>✔ Tự do hóa kỹ sư hoàn toàn:
</a:t>
            </a:r>
            <a:r>
              <a:rPr sz="1100">
                <a:solidFill>
                  <a:srgbClr val="F8FAFC"/>
                </a:solidFill>
              </a:rPr>
              <a:t> Bạn có thể an tâm rời khỏi bàn làm việc, đi họp, ăn trưa hoặc ra ngoài mà công việc lập trình của AI vẫn diễn ra liên tục không đứt đoạn.</a:t>
            </a:r>
          </a:p>
          <a:p>
            <a:pPr>
              <a:spcBef>
                <a:spcPts val="1200"/>
              </a:spcBef>
            </a:pPr>
            <a:r>
              <a:rPr b="1" sz="1200">
                <a:solidFill>
                  <a:srgbClr val="34D399"/>
                </a:solidFill>
              </a:rPr>
              <a:t>✔ Tự động hoàn trả quyền Sleep (Auto-Release):
</a:t>
            </a:r>
            <a:r>
              <a:rPr sz="1100">
                <a:solidFill>
                  <a:srgbClr val="F8FAFC"/>
                </a:solidFill>
              </a:rPr>
              <a:t> Ngay khi Agent hoàn thành 100% nhiệm vụ, hệ thống tự động giải phóng wake-lock để máy tính quay về chế độ tiết kiệm điện bình thường.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144000" cy="320040"/>
          </a:xfrm>
          <a:prstGeom prst="rect">
            <a:avLst/>
          </a:prstGeom>
          <a:noFill/>
        </p:spPr>
        <p:txBody>
          <a:bodyPr wrap="square">
            <a:spAutoFit/>
          </a:bodyPr>
          <a:lstStyle/>
          <a:p>
            <a:pPr>
              <a:defRPr sz="1000" b="1">
                <a:solidFill>
                  <a:srgbClr val="818CF8"/>
                </a:solidFill>
                <a:latin typeface="Segoe UI"/>
              </a:defRPr>
            </a:pPr>
            <a:r>
              <a:t>📌 CÀI ĐẶT HỆ THỐNG • THƯỜNG TRỰC &amp; THÔNG BÁO</a:t>
            </a:r>
          </a:p>
        </p:txBody>
      </p:sp>
      <p:sp>
        <p:nvSpPr>
          <p:cNvPr id="4" name="TextBox 3"/>
          <p:cNvSpPr txBox="1"/>
          <p:nvPr/>
        </p:nvSpPr>
        <p:spPr>
          <a:xfrm>
            <a:off x="10058400" y="320040"/>
            <a:ext cx="1371600" cy="320040"/>
          </a:xfrm>
          <a:prstGeom prst="rect">
            <a:avLst/>
          </a:prstGeom>
          <a:noFill/>
        </p:spPr>
        <p:txBody>
          <a:bodyPr wrap="none">
            <a:spAutoFit/>
          </a:bodyPr>
          <a:lstStyle/>
          <a:p>
            <a:pPr algn="r">
              <a:defRPr sz="1100" b="1">
                <a:solidFill>
                  <a:srgbClr val="38BDF8"/>
                </a:solidFill>
                <a:latin typeface="Consolas"/>
              </a:defRPr>
            </a:pPr>
            <a:r>
              <a:t>07 / 10</a:t>
            </a:r>
          </a:p>
        </p:txBody>
      </p:sp>
      <p:sp>
        <p:nvSpPr>
          <p:cNvPr id="5" name="TextBox 4"/>
          <p:cNvSpPr txBox="1"/>
          <p:nvPr/>
        </p:nvSpPr>
        <p:spPr>
          <a:xfrm>
            <a:off x="731520" y="6446520"/>
            <a:ext cx="10698480" cy="274320"/>
          </a:xfrm>
          <a:prstGeom prst="rect">
            <a:avLst/>
          </a:prstGeom>
          <a:noFill/>
        </p:spPr>
        <p:txBody>
          <a:bodyPr wrap="none">
            <a:spAutoFit/>
          </a:bodyPr>
          <a:lstStyle/>
          <a:p>
            <a:pPr>
              <a:defRPr sz="900">
                <a:solidFill>
                  <a:srgbClr val="64748B"/>
                </a:solidFill>
                <a:latin typeface="Segoe UI"/>
              </a:defRPr>
            </a:pPr>
            <a:r>
              <a:t>Google Antigravity &amp; Claude Code • Internal Tech Sharing • 2026</a:t>
            </a:r>
          </a:p>
        </p:txBody>
      </p:sp>
      <p:sp>
        <p:nvSpPr>
          <p:cNvPr id="6" name="TextBox 5"/>
          <p:cNvSpPr txBox="1"/>
          <p:nvPr/>
        </p:nvSpPr>
        <p:spPr>
          <a:xfrm>
            <a:off x="731520" y="749808"/>
            <a:ext cx="10698480" cy="1005840"/>
          </a:xfrm>
          <a:prstGeom prst="rect">
            <a:avLst/>
          </a:prstGeom>
          <a:noFill/>
        </p:spPr>
        <p:txBody>
          <a:bodyPr wrap="square" lIns="0" tIns="0" rIns="0" bIns="0">
            <a:spAutoFit/>
          </a:bodyPr>
          <a:lstStyle/>
          <a:p>
            <a:pPr>
              <a:defRPr sz="2500" b="1">
                <a:solidFill>
                  <a:srgbClr val="F8FAFC"/>
                </a:solidFill>
                <a:latin typeface="Segoe UI"/>
              </a:defRPr>
            </a:pPr>
            <a:r>
              <a:t>Keep In Menu Bar &amp; Cấu Hình Thông Báo</a:t>
            </a:r>
          </a:p>
          <a:p>
            <a:pPr>
              <a:spcBef>
                <a:spcPts val="300"/>
              </a:spcBef>
              <a:defRPr sz="1250">
                <a:solidFill>
                  <a:srgbClr val="94A3B8"/>
                </a:solidFill>
                <a:latin typeface="Segoe UI"/>
              </a:defRPr>
            </a:pPr>
            <a:r>
              <a:t>Đảm bảo ứng dụng luôn thường trực tức thì và không bỏ lỡ tín hiệu quan trọng từ Agent.</a:t>
            </a:r>
          </a:p>
        </p:txBody>
      </p:sp>
      <p:sp>
        <p:nvSpPr>
          <p:cNvPr id="7" name="Rounded Rectangle 6"/>
          <p:cNvSpPr/>
          <p:nvPr/>
        </p:nvSpPr>
        <p:spPr>
          <a:xfrm>
            <a:off x="731520" y="1920240"/>
            <a:ext cx="5212080" cy="4251960"/>
          </a:xfrm>
          <a:prstGeom prst="roundRect">
            <a:avLst/>
          </a:prstGeom>
          <a:solidFill>
            <a:srgbClr val="131B2E"/>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550" b="1">
                <a:solidFill>
                  <a:srgbClr val="818CF8"/>
                </a:solidFill>
                <a:latin typeface="Segoe UI"/>
              </a:defRPr>
            </a:pPr>
            <a:r>
              <a:t>📌 Keep In Menu Bar (Taskbar Tray)</a:t>
            </a:r>
          </a:p>
          <a:p>
            <a:pPr>
              <a:spcBef>
                <a:spcPts val="1200"/>
              </a:spcBef>
            </a:pPr>
            <a:r>
              <a:rPr b="1" sz="1200">
                <a:solidFill>
                  <a:srgbClr val="F8FAFC"/>
                </a:solidFill>
              </a:rPr>
              <a:t>• Tránh đóng nhầm cửa sổ tai hại:
</a:t>
            </a:r>
            <a:r>
              <a:rPr sz="1100">
                <a:solidFill>
                  <a:srgbClr val="94A3B8"/>
                </a:solidFill>
              </a:rPr>
              <a:t> Bấm nút 'X' chỉ là ẩn cửa sổ xuống khay hệ thống (Taskbar Tray / macOS Menu Bar) chứ tuyệt đối không tắt hẳn ứng dụng.</a:t>
            </a:r>
          </a:p>
          <a:p>
            <a:pPr>
              <a:spcBef>
                <a:spcPts val="1200"/>
              </a:spcBef>
            </a:pPr>
            <a:r>
              <a:rPr b="1" sz="1200">
                <a:solidFill>
                  <a:srgbClr val="F8FAFC"/>
                </a:solidFill>
              </a:rPr>
              <a:t>• Thường trực &amp; Triệu hồi tức thì:
</a:t>
            </a:r>
            <a:r>
              <a:rPr sz="1100">
                <a:solidFill>
                  <a:srgbClr val="94A3B8"/>
                </a:solidFill>
              </a:rPr>
              <a:t> Antigravity luôn chạy ngầm ổn định, kỹ sư có thể gọi lên tức thì bằng phím tắt hoặc 1 click chuột mà không mất thời gian nạp lại project.</a:t>
            </a:r>
          </a:p>
          <a:p>
            <a:pPr>
              <a:spcBef>
                <a:spcPts val="1200"/>
              </a:spcBef>
            </a:pPr>
            <a:r>
              <a:rPr b="1" sz="1200">
                <a:solidFill>
                  <a:srgbClr val="F8FAFC"/>
                </a:solidFill>
              </a:rPr>
              <a:t>• Bảo toàn 100% ngữ cảnh (Context):
</a:t>
            </a:r>
            <a:r>
              <a:rPr sz="1100">
                <a:solidFill>
                  <a:srgbClr val="94A3B8"/>
                </a:solidFill>
              </a:rPr>
              <a:t> Mọi lịch sử thảo luận, các tab terminal đang chạy và trạng thái subagent được giữ nguyên vẹn không bị reset.</a:t>
            </a:r>
          </a:p>
        </p:txBody>
      </p:sp>
      <p:sp>
        <p:nvSpPr>
          <p:cNvPr id="8" name="Rounded Rectangle 7"/>
          <p:cNvSpPr/>
          <p:nvPr/>
        </p:nvSpPr>
        <p:spPr>
          <a:xfrm>
            <a:off x="6217920" y="1920240"/>
            <a:ext cx="5212080" cy="4251960"/>
          </a:xfrm>
          <a:prstGeom prst="roundRect">
            <a:avLst/>
          </a:prstGeom>
          <a:solidFill>
            <a:srgbClr val="131B2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550" b="1">
                <a:solidFill>
                  <a:srgbClr val="38BDF8"/>
                </a:solidFill>
                <a:latin typeface="Segoe UI"/>
              </a:defRPr>
            </a:pPr>
            <a:r>
              <a:t>🔔 Quản Lý Thông Báo Cấp Hệ Điều Hành</a:t>
            </a:r>
          </a:p>
          <a:p>
            <a:pPr>
              <a:spcBef>
                <a:spcPts val="1200"/>
              </a:spcBef>
            </a:pPr>
            <a:r>
              <a:rPr b="1" sz="1200">
                <a:solidFill>
                  <a:srgbClr val="F8FAFC"/>
                </a:solidFill>
              </a:rPr>
              <a:t>• Quản lý tập trung ở Hệ điều hành:
</a:t>
            </a:r>
            <a:r>
              <a:rPr sz="1100">
                <a:solidFill>
                  <a:srgbClr val="94A3B8"/>
                </a:solidFill>
              </a:rPr>
              <a:t> Antigravity đẩy toàn bộ quyền điều khiển về trung tâm Notifications của Windows/macOS thay vì cấu hình riêng rẽ.</a:t>
            </a:r>
          </a:p>
          <a:p>
            <a:pPr>
              <a:spcBef>
                <a:spcPts val="1200"/>
              </a:spcBef>
            </a:pPr>
            <a:r>
              <a:rPr b="1" sz="1200">
                <a:solidFill>
                  <a:srgbClr val="F8FAFC"/>
                </a:solidFill>
              </a:rPr>
              <a:t>• Cấu hình nhanh trên máy tính:
</a:t>
            </a:r>
            <a:r>
              <a:rPr sz="1100">
                <a:solidFill>
                  <a:srgbClr val="94A3B8"/>
                </a:solidFill>
              </a:rPr>
              <a:t> Vào OS Settings &gt; Notifications và cấp quyền để nhận biểu ngữ cùng âm thanh ping mỗi khi Agent có tiến triển mới.</a:t>
            </a:r>
          </a:p>
          <a:p>
            <a:pPr>
              <a:spcBef>
                <a:spcPts val="1200"/>
              </a:spcBef>
            </a:pPr>
            <a:r>
              <a:rPr b="1" sz="1200">
                <a:solidFill>
                  <a:srgbClr val="F8FAFC"/>
                </a:solidFill>
              </a:rPr>
              <a:t>• Phản hồi kịp thời &amp; Đồng bộ di động:
</a:t>
            </a:r>
            <a:r>
              <a:rPr sz="1100">
                <a:solidFill>
                  <a:srgbClr val="94A3B8"/>
                </a:solidFill>
              </a:rPr>
              <a:t> Nhận thông báo ping ngay lập tức khi Agent hoàn thành task lớn hoặc cần duyệt lệnh bash, đồng bộ trực tiếp sang smartphone qua Remote Control.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144000" cy="320040"/>
          </a:xfrm>
          <a:prstGeom prst="rect">
            <a:avLst/>
          </a:prstGeom>
          <a:noFill/>
        </p:spPr>
        <p:txBody>
          <a:bodyPr wrap="square">
            <a:spAutoFit/>
          </a:bodyPr>
          <a:lstStyle/>
          <a:p>
            <a:pPr>
              <a:defRPr sz="1000" b="1">
                <a:solidFill>
                  <a:srgbClr val="818CF8"/>
                </a:solidFill>
                <a:latin typeface="Segoe UI"/>
              </a:defRPr>
            </a:pPr>
            <a:r>
              <a:t>💡 MỞ RỘNG ĐỘT PHÁ • CLAUDE CODE &amp; LOCAL LLM</a:t>
            </a:r>
          </a:p>
        </p:txBody>
      </p:sp>
      <p:sp>
        <p:nvSpPr>
          <p:cNvPr id="4" name="TextBox 3"/>
          <p:cNvSpPr txBox="1"/>
          <p:nvPr/>
        </p:nvSpPr>
        <p:spPr>
          <a:xfrm>
            <a:off x="10058400" y="320040"/>
            <a:ext cx="1371600" cy="320040"/>
          </a:xfrm>
          <a:prstGeom prst="rect">
            <a:avLst/>
          </a:prstGeom>
          <a:noFill/>
        </p:spPr>
        <p:txBody>
          <a:bodyPr wrap="none">
            <a:spAutoFit/>
          </a:bodyPr>
          <a:lstStyle/>
          <a:p>
            <a:pPr algn="r">
              <a:defRPr sz="1100" b="1">
                <a:solidFill>
                  <a:srgbClr val="38BDF8"/>
                </a:solidFill>
                <a:latin typeface="Consolas"/>
              </a:defRPr>
            </a:pPr>
            <a:r>
              <a:t>08 / 10</a:t>
            </a:r>
          </a:p>
        </p:txBody>
      </p:sp>
      <p:sp>
        <p:nvSpPr>
          <p:cNvPr id="5" name="TextBox 4"/>
          <p:cNvSpPr txBox="1"/>
          <p:nvPr/>
        </p:nvSpPr>
        <p:spPr>
          <a:xfrm>
            <a:off x="731520" y="6446520"/>
            <a:ext cx="10698480" cy="274320"/>
          </a:xfrm>
          <a:prstGeom prst="rect">
            <a:avLst/>
          </a:prstGeom>
          <a:noFill/>
        </p:spPr>
        <p:txBody>
          <a:bodyPr wrap="none">
            <a:spAutoFit/>
          </a:bodyPr>
          <a:lstStyle/>
          <a:p>
            <a:pPr>
              <a:defRPr sz="900">
                <a:solidFill>
                  <a:srgbClr val="64748B"/>
                </a:solidFill>
                <a:latin typeface="Segoe UI"/>
              </a:defRPr>
            </a:pPr>
            <a:r>
              <a:t>Google Antigravity &amp; Claude Code • Internal Tech Sharing • 2026</a:t>
            </a:r>
          </a:p>
        </p:txBody>
      </p:sp>
      <p:sp>
        <p:nvSpPr>
          <p:cNvPr id="6" name="TextBox 5"/>
          <p:cNvSpPr txBox="1"/>
          <p:nvPr/>
        </p:nvSpPr>
        <p:spPr>
          <a:xfrm>
            <a:off x="731520" y="749808"/>
            <a:ext cx="10698480" cy="1005840"/>
          </a:xfrm>
          <a:prstGeom prst="rect">
            <a:avLst/>
          </a:prstGeom>
          <a:noFill/>
        </p:spPr>
        <p:txBody>
          <a:bodyPr wrap="square" lIns="0" tIns="0" rIns="0" bIns="0">
            <a:spAutoFit/>
          </a:bodyPr>
          <a:lstStyle/>
          <a:p>
            <a:pPr>
              <a:defRPr sz="2500" b="1">
                <a:solidFill>
                  <a:srgbClr val="F8FAFC"/>
                </a:solidFill>
                <a:latin typeface="Segoe UI"/>
              </a:defRPr>
            </a:pPr>
            <a:r>
              <a:t>Tại Sao Cần Đưa Model Bên Thứ 3 Vào Claude Code?</a:t>
            </a:r>
          </a:p>
          <a:p>
            <a:pPr>
              <a:spcBef>
                <a:spcPts val="300"/>
              </a:spcBef>
              <a:defRPr sz="1250">
                <a:solidFill>
                  <a:srgbClr val="94A3B8"/>
                </a:solidFill>
                <a:latin typeface="Segoe UI"/>
              </a:defRPr>
            </a:pPr>
            <a:r>
              <a:t>Kết hợp bộ não mã nguồn mở mạnh mẽ với framework CLI Agentic số 1 hiện nay.</a:t>
            </a:r>
          </a:p>
        </p:txBody>
      </p:sp>
      <p:sp>
        <p:nvSpPr>
          <p:cNvPr id="7" name="Rounded Rectangle 6"/>
          <p:cNvSpPr/>
          <p:nvPr/>
        </p:nvSpPr>
        <p:spPr>
          <a:xfrm>
            <a:off x="731520" y="1920240"/>
            <a:ext cx="3383280" cy="4251960"/>
          </a:xfrm>
          <a:prstGeom prst="roundRect">
            <a:avLst/>
          </a:prstGeom>
          <a:solidFill>
            <a:srgbClr val="131B2E"/>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100" b="1">
                <a:solidFill>
                  <a:srgbClr val="F43F5E"/>
                </a:solidFill>
                <a:latin typeface="Segoe UI"/>
              </a:defRPr>
            </a:pPr>
            <a:r>
              <a:t>TRỤ CỘT 1</a:t>
            </a:r>
          </a:p>
          <a:p>
            <a:pPr>
              <a:spcBef>
                <a:spcPts val="400"/>
              </a:spcBef>
              <a:defRPr sz="1550" b="1">
                <a:solidFill>
                  <a:srgbClr val="F8FAFC"/>
                </a:solidFill>
                <a:latin typeface="Segoe UI"/>
              </a:defRPr>
            </a:pPr>
            <a:r>
              <a:t>🔒 Bảo Mật &amp; Air-Gapped</a:t>
            </a:r>
          </a:p>
          <a:p>
            <a:pPr>
              <a:spcBef>
                <a:spcPts val="800"/>
              </a:spcBef>
            </a:pPr>
            <a:r>
              <a:rPr b="1" sz="1150">
                <a:solidFill>
                  <a:srgbClr val="F8FAFC"/>
                </a:solidFill>
              </a:rPr>
              <a:t>• Tuân thủ nghiêm ngặt NDA:
</a:t>
            </a:r>
            <a:r>
              <a:rPr sz="1100">
                <a:solidFill>
                  <a:srgbClr val="94A3B8"/>
                </a:solidFill>
              </a:rPr>
              <a:t> Cam kết bảo mật của khách hàng cấm tuyệt đối việc đẩy source code dự án lên các server đám mây công cộng.</a:t>
            </a:r>
          </a:p>
          <a:p>
            <a:pPr>
              <a:spcBef>
                <a:spcPts val="800"/>
              </a:spcBef>
            </a:pPr>
            <a:r>
              <a:rPr b="1" sz="1150">
                <a:solidFill>
                  <a:srgbClr val="F8FAFC"/>
                </a:solidFill>
              </a:rPr>
              <a:t>• Xử lý hoàn toàn Offline:
</a:t>
            </a:r>
            <a:r>
              <a:rPr sz="1100">
                <a:solidFill>
                  <a:srgbClr val="94A3B8"/>
                </a:solidFill>
              </a:rPr>
              <a:t> Toàn bộ quá trình đọc hiểu mã nguồn và sinh giải pháp được thực thi trên GPU nội bộ của máy trạm.</a:t>
            </a:r>
          </a:p>
          <a:p>
            <a:pPr>
              <a:spcBef>
                <a:spcPts val="800"/>
              </a:spcBef>
            </a:pPr>
            <a:r>
              <a:rPr b="1" sz="1150">
                <a:solidFill>
                  <a:srgbClr val="F8FAFC"/>
                </a:solidFill>
              </a:rPr>
              <a:t>• Không lưu vết huấn luyện:
</a:t>
            </a:r>
            <a:r>
              <a:rPr sz="1100">
                <a:solidFill>
                  <a:srgbClr val="94A3B8"/>
                </a:solidFill>
              </a:rPr>
              <a:t> Dữ liệu nội bộ không bao giờ bị sử dụng để huấn luyện lại các mô hình AI của bên thứ ba.</a:t>
            </a:r>
          </a:p>
        </p:txBody>
      </p:sp>
      <p:sp>
        <p:nvSpPr>
          <p:cNvPr id="8" name="Rounded Rectangle 7"/>
          <p:cNvSpPr/>
          <p:nvPr/>
        </p:nvSpPr>
        <p:spPr>
          <a:xfrm>
            <a:off x="4389120" y="1920240"/>
            <a:ext cx="3383280" cy="4251960"/>
          </a:xfrm>
          <a:prstGeom prst="roundRect">
            <a:avLst/>
          </a:prstGeom>
          <a:solidFill>
            <a:srgbClr val="131B2E"/>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100" b="1">
                <a:solidFill>
                  <a:srgbClr val="34D399"/>
                </a:solidFill>
                <a:latin typeface="Segoe UI"/>
              </a:defRPr>
            </a:pPr>
            <a:r>
              <a:t>TRỤ CỘT 2</a:t>
            </a:r>
          </a:p>
          <a:p>
            <a:pPr>
              <a:spcBef>
                <a:spcPts val="400"/>
              </a:spcBef>
              <a:defRPr sz="1550" b="1">
                <a:solidFill>
                  <a:srgbClr val="F8FAFC"/>
                </a:solidFill>
                <a:latin typeface="Segoe UI"/>
              </a:defRPr>
            </a:pPr>
            <a:r>
              <a:t>💰 Tiết Kiệm 100% Phí API</a:t>
            </a:r>
          </a:p>
          <a:p>
            <a:pPr>
              <a:spcBef>
                <a:spcPts val="800"/>
              </a:spcBef>
            </a:pPr>
            <a:r>
              <a:rPr b="1" sz="1150">
                <a:solidFill>
                  <a:srgbClr val="F8FAFC"/>
                </a:solidFill>
              </a:rPr>
              <a:t>• Cắt giảm chi phí token:
</a:t>
            </a:r>
            <a:r>
              <a:rPr sz="1100">
                <a:solidFill>
                  <a:srgbClr val="94A3B8"/>
                </a:solidFill>
              </a:rPr>
              <a:t> Các tác vụ lặp đi lặp lại như debug hay sinh test cases ngốn hàng trăm USD nếu dùng API Claude 3.5 Sonnet.</a:t>
            </a:r>
          </a:p>
          <a:p>
            <a:pPr>
              <a:spcBef>
                <a:spcPts val="800"/>
              </a:spcBef>
            </a:pPr>
            <a:r>
              <a:rPr b="1" sz="1150">
                <a:solidFill>
                  <a:srgbClr val="F8FAFC"/>
                </a:solidFill>
              </a:rPr>
              <a:t>• Sử dụng Ollama 0 đồng:
</a:t>
            </a:r>
            <a:r>
              <a:rPr sz="1100">
                <a:solidFill>
                  <a:srgbClr val="94A3B8"/>
                </a:solidFill>
              </a:rPr>
              <a:t> Tận dụng tối đa sức mạnh của các model mã nguồn mở hàng đầu như Qwen 2.5 Coder, DeepSeek-R1.</a:t>
            </a:r>
          </a:p>
          <a:p>
            <a:pPr>
              <a:spcBef>
                <a:spcPts val="800"/>
              </a:spcBef>
            </a:pPr>
            <a:r>
              <a:rPr b="1" sz="1150">
                <a:solidFill>
                  <a:srgbClr val="F8FAFC"/>
                </a:solidFill>
              </a:rPr>
              <a:t>• Không lo giới hạn Rate Limit:
</a:t>
            </a:r>
            <a:r>
              <a:rPr sz="1100">
                <a:solidFill>
                  <a:srgbClr val="94A3B8"/>
                </a:solidFill>
              </a:rPr>
              <a:t> Không bị chặn tần suất yêu cầu trên phút (RPM/TPM) khi chạy benchmark quy mô lớn.</a:t>
            </a:r>
          </a:p>
        </p:txBody>
      </p:sp>
      <p:sp>
        <p:nvSpPr>
          <p:cNvPr id="9" name="Rounded Rectangle 8"/>
          <p:cNvSpPr/>
          <p:nvPr/>
        </p:nvSpPr>
        <p:spPr>
          <a:xfrm>
            <a:off x="8046720" y="1920240"/>
            <a:ext cx="3383280" cy="4251960"/>
          </a:xfrm>
          <a:prstGeom prst="roundRect">
            <a:avLst/>
          </a:prstGeom>
          <a:solidFill>
            <a:srgbClr val="131B2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100" b="1">
                <a:solidFill>
                  <a:srgbClr val="38BDF8"/>
                </a:solidFill>
                <a:latin typeface="Segoe UI"/>
              </a:defRPr>
            </a:pPr>
            <a:r>
              <a:t>TRỤ CỘT 3</a:t>
            </a:r>
          </a:p>
          <a:p>
            <a:pPr>
              <a:spcBef>
                <a:spcPts val="400"/>
              </a:spcBef>
              <a:defRPr sz="1550" b="1">
                <a:solidFill>
                  <a:srgbClr val="F8FAFC"/>
                </a:solidFill>
                <a:latin typeface="Segoe UI"/>
              </a:defRPr>
            </a:pPr>
            <a:r>
              <a:t>⚡ Giữ Trọn Workflow Agent</a:t>
            </a:r>
          </a:p>
          <a:p>
            <a:pPr>
              <a:spcBef>
                <a:spcPts val="800"/>
              </a:spcBef>
            </a:pPr>
            <a:r>
              <a:rPr b="1" sz="1150">
                <a:solidFill>
                  <a:srgbClr val="F8FAFC"/>
                </a:solidFill>
              </a:rPr>
              <a:t>• Tận dụng vỏ Claude Code:
</a:t>
            </a:r>
            <a:r>
              <a:rPr sz="1100">
                <a:solidFill>
                  <a:srgbClr val="94A3B8"/>
                </a:solidFill>
              </a:rPr>
              <a:t> Giữ nguyên khả năng đọc ghi file chuẩn xác, tự động chạy lệnh terminal và tạo commit tự động.</a:t>
            </a:r>
          </a:p>
          <a:p>
            <a:pPr>
              <a:spcBef>
                <a:spcPts val="800"/>
              </a:spcBef>
            </a:pPr>
            <a:r>
              <a:rPr b="1" sz="1150">
                <a:solidFill>
                  <a:srgbClr val="F8FAFC"/>
                </a:solidFill>
              </a:rPr>
              <a:t>• Linh hoạt đổi model coding:
</a:t>
            </a:r>
            <a:r>
              <a:rPr sz="1100">
                <a:solidFill>
                  <a:srgbClr val="94A3B8"/>
                </a:solidFill>
              </a:rPr>
              <a:t> Dễ dàng chuyển đổi giữa các model coding chuyên biệt chỉ với một tham số dòng lệnh duy nhất.</a:t>
            </a:r>
          </a:p>
          <a:p>
            <a:pPr>
              <a:spcBef>
                <a:spcPts val="800"/>
              </a:spcBef>
            </a:pPr>
            <a:r>
              <a:rPr b="1" sz="1150">
                <a:solidFill>
                  <a:srgbClr val="F8FAFC"/>
                </a:solidFill>
              </a:rPr>
              <a:t>• Tự chủ công nghệ lâu dài:
</a:t>
            </a:r>
            <a:r>
              <a:rPr sz="1100">
                <a:solidFill>
                  <a:srgbClr val="94A3B8"/>
                </a:solidFill>
              </a:rPr>
              <a:t> Hoạt động độc lập và không phụ thuộc vào tình trạng quá tải hoặc sự cố gián đoạn của nhà cung cấp Cloud.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144000" cy="320040"/>
          </a:xfrm>
          <a:prstGeom prst="rect">
            <a:avLst/>
          </a:prstGeom>
          <a:noFill/>
        </p:spPr>
        <p:txBody>
          <a:bodyPr wrap="square">
            <a:spAutoFit/>
          </a:bodyPr>
          <a:lstStyle/>
          <a:p>
            <a:pPr>
              <a:defRPr sz="1000" b="1">
                <a:solidFill>
                  <a:srgbClr val="818CF8"/>
                </a:solidFill>
                <a:latin typeface="Segoe UI"/>
              </a:defRPr>
            </a:pPr>
            <a:r>
              <a:t>🛠️ THỰC CHIẾN TÍCH HỢP • NATIVE ANTHROPIC API BRIDGE</a:t>
            </a:r>
          </a:p>
        </p:txBody>
      </p:sp>
      <p:sp>
        <p:nvSpPr>
          <p:cNvPr id="4" name="TextBox 3"/>
          <p:cNvSpPr txBox="1"/>
          <p:nvPr/>
        </p:nvSpPr>
        <p:spPr>
          <a:xfrm>
            <a:off x="10058400" y="320040"/>
            <a:ext cx="1371600" cy="320040"/>
          </a:xfrm>
          <a:prstGeom prst="rect">
            <a:avLst/>
          </a:prstGeom>
          <a:noFill/>
        </p:spPr>
        <p:txBody>
          <a:bodyPr wrap="none">
            <a:spAutoFit/>
          </a:bodyPr>
          <a:lstStyle/>
          <a:p>
            <a:pPr algn="r">
              <a:defRPr sz="1100" b="1">
                <a:solidFill>
                  <a:srgbClr val="38BDF8"/>
                </a:solidFill>
                <a:latin typeface="Consolas"/>
              </a:defRPr>
            </a:pPr>
            <a:r>
              <a:t>09 / 10</a:t>
            </a:r>
          </a:p>
        </p:txBody>
      </p:sp>
      <p:sp>
        <p:nvSpPr>
          <p:cNvPr id="5" name="TextBox 4"/>
          <p:cNvSpPr txBox="1"/>
          <p:nvPr/>
        </p:nvSpPr>
        <p:spPr>
          <a:xfrm>
            <a:off x="731520" y="6446520"/>
            <a:ext cx="10698480" cy="274320"/>
          </a:xfrm>
          <a:prstGeom prst="rect">
            <a:avLst/>
          </a:prstGeom>
          <a:noFill/>
        </p:spPr>
        <p:txBody>
          <a:bodyPr wrap="none">
            <a:spAutoFit/>
          </a:bodyPr>
          <a:lstStyle/>
          <a:p>
            <a:pPr>
              <a:defRPr sz="900">
                <a:solidFill>
                  <a:srgbClr val="64748B"/>
                </a:solidFill>
                <a:latin typeface="Segoe UI"/>
              </a:defRPr>
            </a:pPr>
            <a:r>
              <a:t>Google Antigravity &amp; Claude Code • Internal Tech Sharing • 2026</a:t>
            </a:r>
          </a:p>
        </p:txBody>
      </p:sp>
      <p:sp>
        <p:nvSpPr>
          <p:cNvPr id="6" name="TextBox 5"/>
          <p:cNvSpPr txBox="1"/>
          <p:nvPr/>
        </p:nvSpPr>
        <p:spPr>
          <a:xfrm>
            <a:off x="731520" y="749808"/>
            <a:ext cx="10698480" cy="1005840"/>
          </a:xfrm>
          <a:prstGeom prst="rect">
            <a:avLst/>
          </a:prstGeom>
          <a:noFill/>
        </p:spPr>
        <p:txBody>
          <a:bodyPr wrap="square" lIns="0" tIns="0" rIns="0" bIns="0">
            <a:spAutoFit/>
          </a:bodyPr>
          <a:lstStyle/>
          <a:p>
            <a:pPr>
              <a:defRPr sz="2500" b="1">
                <a:solidFill>
                  <a:srgbClr val="F8FAFC"/>
                </a:solidFill>
                <a:latin typeface="Segoe UI"/>
              </a:defRPr>
            </a:pPr>
            <a:r>
              <a:t>Cách Tích Hợp Model Vào Claude Code</a:t>
            </a:r>
          </a:p>
          <a:p>
            <a:pPr>
              <a:spcBef>
                <a:spcPts val="300"/>
              </a:spcBef>
              <a:defRPr sz="1250">
                <a:solidFill>
                  <a:srgbClr val="94A3B8"/>
                </a:solidFill>
                <a:latin typeface="Segoe UI"/>
              </a:defRPr>
            </a:pPr>
            <a:r>
              <a:t>Cấu hình ghép nối Ollama với Claude Code qua 2 phương pháp đơn giản.</a:t>
            </a:r>
          </a:p>
        </p:txBody>
      </p:sp>
      <p:sp>
        <p:nvSpPr>
          <p:cNvPr id="7" name="Rounded Rectangle 6"/>
          <p:cNvSpPr/>
          <p:nvPr/>
        </p:nvSpPr>
        <p:spPr>
          <a:xfrm>
            <a:off x="731520" y="1920240"/>
            <a:ext cx="10698480" cy="1691640"/>
          </a:xfrm>
          <a:prstGeom prst="roundRect">
            <a:avLst/>
          </a:prstGeom>
          <a:solidFill>
            <a:srgbClr val="05081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10698480"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2039112"/>
            <a:ext cx="128016" cy="128016"/>
          </a:xfrm>
          <a:prstGeom prst="ellipse">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5568" y="2039112"/>
            <a:ext cx="128016" cy="12801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16736" y="2039112"/>
            <a:ext cx="128016" cy="128016"/>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1965960"/>
            <a:ext cx="9601200" cy="274320"/>
          </a:xfrm>
          <a:prstGeom prst="rect">
            <a:avLst/>
          </a:prstGeom>
          <a:noFill/>
        </p:spPr>
        <p:txBody>
          <a:bodyPr wrap="none">
            <a:spAutoFit/>
          </a:bodyPr>
          <a:lstStyle/>
          <a:p>
            <a:pPr>
              <a:defRPr sz="1000">
                <a:solidFill>
                  <a:srgbClr val="94A3B8"/>
                </a:solidFill>
                <a:latin typeface="Consolas"/>
              </a:defRPr>
            </a:pPr>
            <a:r>
              <a:t>bash — claude-code-bridge</a:t>
            </a:r>
          </a:p>
        </p:txBody>
      </p:sp>
      <p:sp>
        <p:nvSpPr>
          <p:cNvPr id="13" name="TextBox 12"/>
          <p:cNvSpPr txBox="1"/>
          <p:nvPr/>
        </p:nvSpPr>
        <p:spPr>
          <a:xfrm>
            <a:off x="960120" y="2377440"/>
            <a:ext cx="10241280" cy="1143000"/>
          </a:xfrm>
          <a:prstGeom prst="rect">
            <a:avLst/>
          </a:prstGeom>
          <a:noFill/>
        </p:spPr>
        <p:txBody>
          <a:bodyPr wrap="square">
            <a:spAutoFit/>
          </a:bodyPr>
          <a:lstStyle/>
          <a:p>
            <a:pPr>
              <a:defRPr sz="1150" b="1">
                <a:solidFill>
                  <a:srgbClr val="38BDF8"/>
                </a:solidFill>
                <a:latin typeface="Consolas"/>
              </a:defRPr>
            </a:pPr>
            <a:r>
              <a:t>$ ollama launch claude --model qwen2.5-coder</a:t>
            </a:r>
          </a:p>
          <a:p>
            <a:pPr>
              <a:spcBef>
                <a:spcPts val="400"/>
              </a:spcBef>
              <a:defRPr sz="1050">
                <a:solidFill>
                  <a:srgbClr val="34D399"/>
                </a:solidFill>
                <a:latin typeface="Consolas"/>
              </a:defRPr>
            </a:pPr>
            <a:r>
              <a:t>[✓] Connected to local Ollama (http://localhost:11434)</a:t>
            </a:r>
          </a:p>
          <a:p>
            <a:pPr>
              <a:spcBef>
                <a:spcPts val="400"/>
              </a:spcBef>
              <a:defRPr sz="1050">
                <a:solidFill>
                  <a:srgbClr val="34D399"/>
                </a:solidFill>
                <a:latin typeface="Consolas"/>
              </a:defRPr>
            </a:pPr>
            <a:r>
              <a:t>[✓] Anthropic Messages API Bridge: READY</a:t>
            </a:r>
          </a:p>
          <a:p>
            <a:pPr>
              <a:spcBef>
                <a:spcPts val="400"/>
              </a:spcBef>
              <a:defRPr sz="1050">
                <a:solidFill>
                  <a:srgbClr val="34D399"/>
                </a:solidFill>
                <a:latin typeface="Consolas"/>
              </a:defRPr>
            </a:pPr>
            <a:r>
              <a:t>[✓] Initializing Agent tools: ReadFile, EditFile, Bash... Done.</a:t>
            </a:r>
          </a:p>
        </p:txBody>
      </p:sp>
      <p:sp>
        <p:nvSpPr>
          <p:cNvPr id="14" name="Rounded Rectangle 13"/>
          <p:cNvSpPr/>
          <p:nvPr/>
        </p:nvSpPr>
        <p:spPr>
          <a:xfrm>
            <a:off x="731520" y="3794760"/>
            <a:ext cx="5212080" cy="2377440"/>
          </a:xfrm>
          <a:prstGeom prst="roundRect">
            <a:avLst/>
          </a:prstGeom>
          <a:solidFill>
            <a:srgbClr val="050811"/>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200" b="1">
                <a:solidFill>
                  <a:srgbClr val="34D399"/>
                </a:solidFill>
                <a:latin typeface="Consolas"/>
              </a:defRPr>
            </a:pPr>
            <a:r>
              <a:t>CÁCH 1: OLLAMA LAUNCH (1 DÒNG DUY NHẤT)</a:t>
            </a:r>
          </a:p>
          <a:p>
            <a:pPr>
              <a:spcBef>
                <a:spcPts val="500"/>
              </a:spcBef>
              <a:defRPr sz="1050" b="1">
                <a:solidFill>
                  <a:srgbClr val="38BDF8"/>
                </a:solidFill>
                <a:latin typeface="Consolas"/>
              </a:defRPr>
            </a:pPr>
            <a:r>
              <a:t>$ ollama launch claude --model qwen2.5-coder</a:t>
            </a:r>
          </a:p>
          <a:p>
            <a:pPr>
              <a:spcBef>
                <a:spcPts val="500"/>
              </a:spcBef>
              <a:defRPr sz="1050">
                <a:solidFill>
                  <a:srgbClr val="F8FAFC"/>
                </a:solidFill>
                <a:latin typeface="Segoe UI"/>
              </a:defRPr>
            </a:pPr>
            <a:r>
              <a:t>• Ollama phiên bản mới tự động thiết lập cầu nối Anthropic API.</a:t>
            </a:r>
            <a:br/>
            <a:r>
              <a:t>• Tự động tải model nếu chưa có sẵn trong máy trạm.</a:t>
            </a:r>
            <a:br/>
            <a:r>
              <a:t>• Sẵn sàng làm việc chỉ sau vài giây.</a:t>
            </a:r>
          </a:p>
        </p:txBody>
      </p:sp>
      <p:sp>
        <p:nvSpPr>
          <p:cNvPr id="15" name="Rounded Rectangle 14"/>
          <p:cNvSpPr/>
          <p:nvPr/>
        </p:nvSpPr>
        <p:spPr>
          <a:xfrm>
            <a:off x="6217920" y="3794760"/>
            <a:ext cx="5212080" cy="2377440"/>
          </a:xfrm>
          <a:prstGeom prst="roundRect">
            <a:avLst/>
          </a:prstGeom>
          <a:solidFill>
            <a:srgbClr val="05081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200" b="1">
                <a:solidFill>
                  <a:srgbClr val="818CF8"/>
                </a:solidFill>
                <a:latin typeface="Consolas"/>
              </a:defRPr>
            </a:pPr>
            <a:r>
              <a:t>CÁCH 2: CẤU HÌNH BIẾN MÔI TRƯỜNG (ENV VARS)</a:t>
            </a:r>
          </a:p>
          <a:p>
            <a:pPr>
              <a:spcBef>
                <a:spcPts val="500"/>
              </a:spcBef>
              <a:defRPr sz="1000">
                <a:solidFill>
                  <a:srgbClr val="818CF8"/>
                </a:solidFill>
                <a:latin typeface="Consolas"/>
              </a:defRPr>
            </a:pPr>
            <a:r>
              <a:t>export ANTHROPIC_BASE_URL=http://localhost:11434</a:t>
            </a:r>
            <a:br/>
            <a:r>
              <a:t>export ANTHROPIC_AUTH_TOKEN=ollama</a:t>
            </a:r>
          </a:p>
          <a:p>
            <a:pPr>
              <a:spcBef>
                <a:spcPts val="500"/>
              </a:spcBef>
              <a:defRPr sz="1050">
                <a:solidFill>
                  <a:srgbClr val="F8FAFC"/>
                </a:solidFill>
                <a:latin typeface="Segoe UI"/>
              </a:defRPr>
            </a:pPr>
            <a:r>
              <a:t>• Khởi chạy lệnh 'claude --model qwen2.5-coder' như bình thường.</a:t>
            </a:r>
            <a:br/>
            <a:r>
              <a:t>• Hỗ trợ toàn diện Tool calling: Chạy lệnh shell, đọc &amp; sửa file.</a:t>
            </a:r>
            <a:br/>
            <a:r>
              <a:t>• Tự do cấu hình trong profile ~/.bashrc hoặc ~/.zshrc.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144000" cy="320040"/>
          </a:xfrm>
          <a:prstGeom prst="rect">
            <a:avLst/>
          </a:prstGeom>
          <a:noFill/>
        </p:spPr>
        <p:txBody>
          <a:bodyPr wrap="square">
            <a:spAutoFit/>
          </a:bodyPr>
          <a:lstStyle/>
          <a:p>
            <a:pPr>
              <a:defRPr sz="1000" b="1">
                <a:solidFill>
                  <a:srgbClr val="818CF8"/>
                </a:solidFill>
                <a:latin typeface="Segoe UI"/>
              </a:defRPr>
            </a:pPr>
            <a:r>
              <a:t>🏁 TỔNG KẾT &amp; HÀNH ĐỘNG • Q&amp;A</a:t>
            </a:r>
          </a:p>
        </p:txBody>
      </p:sp>
      <p:sp>
        <p:nvSpPr>
          <p:cNvPr id="4" name="TextBox 3"/>
          <p:cNvSpPr txBox="1"/>
          <p:nvPr/>
        </p:nvSpPr>
        <p:spPr>
          <a:xfrm>
            <a:off x="10058400" y="320040"/>
            <a:ext cx="1371600" cy="320040"/>
          </a:xfrm>
          <a:prstGeom prst="rect">
            <a:avLst/>
          </a:prstGeom>
          <a:noFill/>
        </p:spPr>
        <p:txBody>
          <a:bodyPr wrap="none">
            <a:spAutoFit/>
          </a:bodyPr>
          <a:lstStyle/>
          <a:p>
            <a:pPr algn="r">
              <a:defRPr sz="1100" b="1">
                <a:solidFill>
                  <a:srgbClr val="38BDF8"/>
                </a:solidFill>
                <a:latin typeface="Consolas"/>
              </a:defRPr>
            </a:pPr>
            <a:r>
              <a:t>10 / 10</a:t>
            </a:r>
          </a:p>
        </p:txBody>
      </p:sp>
      <p:sp>
        <p:nvSpPr>
          <p:cNvPr id="5" name="TextBox 4"/>
          <p:cNvSpPr txBox="1"/>
          <p:nvPr/>
        </p:nvSpPr>
        <p:spPr>
          <a:xfrm>
            <a:off x="731520" y="6446520"/>
            <a:ext cx="10698480" cy="274320"/>
          </a:xfrm>
          <a:prstGeom prst="rect">
            <a:avLst/>
          </a:prstGeom>
          <a:noFill/>
        </p:spPr>
        <p:txBody>
          <a:bodyPr wrap="none">
            <a:spAutoFit/>
          </a:bodyPr>
          <a:lstStyle/>
          <a:p>
            <a:pPr>
              <a:defRPr sz="900">
                <a:solidFill>
                  <a:srgbClr val="64748B"/>
                </a:solidFill>
                <a:latin typeface="Segoe UI"/>
              </a:defRPr>
            </a:pPr>
            <a:r>
              <a:t>Google Antigravity &amp; Claude Code • Internal Tech Sharing • 2026</a:t>
            </a:r>
          </a:p>
        </p:txBody>
      </p:sp>
      <p:sp>
        <p:nvSpPr>
          <p:cNvPr id="6" name="TextBox 5"/>
          <p:cNvSpPr txBox="1"/>
          <p:nvPr/>
        </p:nvSpPr>
        <p:spPr>
          <a:xfrm>
            <a:off x="731520" y="749808"/>
            <a:ext cx="10698480" cy="1005840"/>
          </a:xfrm>
          <a:prstGeom prst="rect">
            <a:avLst/>
          </a:prstGeom>
          <a:noFill/>
        </p:spPr>
        <p:txBody>
          <a:bodyPr wrap="square" lIns="0" tIns="0" rIns="0" bIns="0">
            <a:spAutoFit/>
          </a:bodyPr>
          <a:lstStyle/>
          <a:p>
            <a:pPr>
              <a:defRPr sz="2500" b="1">
                <a:solidFill>
                  <a:srgbClr val="F8FAFC"/>
                </a:solidFill>
                <a:latin typeface="Segoe UI"/>
              </a:defRPr>
            </a:pPr>
            <a:r>
              <a:t>Bộ Hành Trang Kỹ Sư Tương Lai</a:t>
            </a:r>
          </a:p>
          <a:p>
            <a:pPr>
              <a:spcBef>
                <a:spcPts val="300"/>
              </a:spcBef>
              <a:defRPr sz="1250">
                <a:solidFill>
                  <a:srgbClr val="94A3B8"/>
                </a:solidFill>
                <a:latin typeface="Segoe UI"/>
              </a:defRPr>
            </a:pPr>
            <a:r>
              <a:t>Checklist 3 bước tối ưu quy trình làm việc với AI Agent – Setup 1 lần, thảnh thơi cả ngày.</a:t>
            </a:r>
          </a:p>
        </p:txBody>
      </p:sp>
      <p:sp>
        <p:nvSpPr>
          <p:cNvPr id="7" name="Rounded Rectangle 6"/>
          <p:cNvSpPr/>
          <p:nvPr/>
        </p:nvSpPr>
        <p:spPr>
          <a:xfrm>
            <a:off x="731520" y="1920240"/>
            <a:ext cx="3383280" cy="3063240"/>
          </a:xfrm>
          <a:prstGeom prst="roundRect">
            <a:avLst/>
          </a:prstGeom>
          <a:solidFill>
            <a:srgbClr val="131B2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400" b="1">
                <a:solidFill>
                  <a:srgbClr val="38BDF8"/>
                </a:solidFill>
                <a:latin typeface="Segoe UI"/>
              </a:defRPr>
            </a:pPr>
            <a:r>
              <a:t>1. BẬT REMOTE CONTROL</a:t>
            </a:r>
          </a:p>
          <a:p>
            <a:pPr>
              <a:spcBef>
                <a:spcPts val="800"/>
              </a:spcBef>
              <a:defRPr sz="1150">
                <a:solidFill>
                  <a:srgbClr val="F8FAFC"/>
                </a:solidFill>
                <a:latin typeface="Segoe UI"/>
              </a:defRPr>
            </a:pPr>
            <a:r>
              <a:t>Gạt nút toggle trong Settings để sẵn sàng duyệt code và bấm Approve từ điện thoại khi đi họp hoặc đi ăn trưa.</a:t>
            </a:r>
            <a:br/>
            <a:r>
              <a:t>Giải phóng bản thân khỏi việc phải ngồi canh máy tính liên tục.</a:t>
            </a:r>
          </a:p>
        </p:txBody>
      </p:sp>
      <p:sp>
        <p:nvSpPr>
          <p:cNvPr id="8" name="Rounded Rectangle 7"/>
          <p:cNvSpPr/>
          <p:nvPr/>
        </p:nvSpPr>
        <p:spPr>
          <a:xfrm>
            <a:off x="4389120" y="1920240"/>
            <a:ext cx="3383280" cy="3063240"/>
          </a:xfrm>
          <a:prstGeom prst="roundRect">
            <a:avLst/>
          </a:prstGeom>
          <a:solidFill>
            <a:srgbClr val="131B2E"/>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400" b="1">
                <a:solidFill>
                  <a:srgbClr val="34D399"/>
                </a:solidFill>
                <a:latin typeface="Segoe UI"/>
              </a:defRPr>
            </a:pPr>
            <a:r>
              <a:t>2. BẬT PREVENT SLEEP &amp; TRAY</a:t>
            </a:r>
          </a:p>
          <a:p>
            <a:pPr>
              <a:spcBef>
                <a:spcPts val="800"/>
              </a:spcBef>
              <a:defRPr sz="1150">
                <a:solidFill>
                  <a:srgbClr val="F8FAFC"/>
                </a:solidFill>
                <a:latin typeface="Segoe UI"/>
              </a:defRPr>
            </a:pPr>
            <a:r>
              <a:t>Giữ máy tính luôn thức trong lúc Agent cày task nặng xuyên đêm và tránh nguy cơ đóng nhầm cửa sổ bằng nút 'X'.</a:t>
            </a:r>
            <a:br/>
            <a:r>
              <a:t>Ứng dụng luôn thường trực trên khay Taskbar Tray.</a:t>
            </a:r>
          </a:p>
        </p:txBody>
      </p:sp>
      <p:sp>
        <p:nvSpPr>
          <p:cNvPr id="9" name="Rounded Rectangle 8"/>
          <p:cNvSpPr/>
          <p:nvPr/>
        </p:nvSpPr>
        <p:spPr>
          <a:xfrm>
            <a:off x="8046720" y="1920240"/>
            <a:ext cx="3383280" cy="3063240"/>
          </a:xfrm>
          <a:prstGeom prst="roundRect">
            <a:avLst/>
          </a:prstGeom>
          <a:solidFill>
            <a:srgbClr val="131B2E"/>
          </a:solidFill>
          <a:ln w="190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400" b="1">
                <a:solidFill>
                  <a:srgbClr val="818CF8"/>
                </a:solidFill>
                <a:latin typeface="Segoe UI"/>
              </a:defRPr>
            </a:pPr>
            <a:r>
              <a:t>3. THỬ NGHIỆM OLLAMA LAUNCH</a:t>
            </a:r>
          </a:p>
          <a:p>
            <a:pPr>
              <a:spcBef>
                <a:spcPts val="800"/>
              </a:spcBef>
              <a:defRPr sz="1150">
                <a:solidFill>
                  <a:srgbClr val="F8FAFC"/>
                </a:solidFill>
                <a:latin typeface="Segoe UI"/>
              </a:defRPr>
            </a:pPr>
            <a:r>
              <a:t>Chạy thử lệnh 'ollama launch claude' để trải nghiệm cảm giác sở hữu một trợ lý AI Coding offline miễn phí 100%.</a:t>
            </a:r>
            <a:br/>
            <a:r>
              <a:t>Bảo vệ tuyệt đối mã nguồn nhạy cảm của dự án.</a:t>
            </a:r>
          </a:p>
        </p:txBody>
      </p:sp>
      <p:sp>
        <p:nvSpPr>
          <p:cNvPr id="10" name="Rounded Rectangle 9"/>
          <p:cNvSpPr/>
          <p:nvPr/>
        </p:nvSpPr>
        <p:spPr>
          <a:xfrm>
            <a:off x="731520" y="5166360"/>
            <a:ext cx="10698480" cy="100584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350" b="1">
                <a:solidFill>
                  <a:srgbClr val="38BDF8"/>
                </a:solidFill>
                <a:latin typeface="Segoe UI"/>
              </a:defRPr>
            </a:pPr>
            <a:r>
              <a:t>💬 CẢM ƠN ANH EM ĐÃ LẮNG NGHE! CHÚNG TA CÙNG THẢO LUẬN &amp; DEMO TRỰC TIẾP NHÉ!</a:t>
            </a:r>
          </a:p>
          <a:p>
            <a:pPr>
              <a:spcBef>
                <a:spcPts val="300"/>
              </a:spcBef>
              <a:defRPr sz="1100">
                <a:solidFill>
                  <a:srgbClr val="94A3B8"/>
                </a:solidFill>
                <a:latin typeface="Segoe UI"/>
              </a:defRPr>
            </a:pPr>
            <a:r>
              <a:t>Hãy quét mã QR hoặc mở Settings trên máy của bạn để cùng thực hành và trải nghiệm ngay bây giờ!</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