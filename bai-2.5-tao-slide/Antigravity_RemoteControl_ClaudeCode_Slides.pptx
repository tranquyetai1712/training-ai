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THOẠI DIỄN GIẢ - 0:00 - 0:55]</a:t>
            </a:r>
          </a:p>
          <a:p>
            <a:r>
              <a:t>(Hook) Chào anh em! Chắc hẳn ai trong chúng ta khi dùng Antigravity chạy những task lớn như refactor cả module hay sinh hàng chục test cases đều từng gặp cảnh: vừa đi uống cốc cà phê quay lại thì máy tính đã ngủ gật, AI bị ngắt quãng giữa chừng, hoặc phải ngồi dán mắt vào màn hình chỉ để chờ bấm Approve.</a:t>
            </a:r>
          </a:p>
          <a:p>
            <a:r>
              <a:t>(Why) Chúng ta đang dùng AI để giải phóng sức lao động nhưng lại vô tình bị xích vào bàn làm việc vì những thiết lập mặc định chưa tối ưu.</a:t>
            </a:r>
          </a:p>
          <a:p>
            <a:r>
              <a:t>(How) Trong đúng 7 phút hôm nay, mình sẽ chia sẻ với anh em 2 vũ khí cực mạnh: tính năng Remote Control điều khiển từ xa, bộ 3 thiết lập App Settings sống còn, và phần bonus đặc biệt: cách chạy Claude Code với Model bên thứ 3 hoàn toàn miễn phí, bảo mật qua Ollama.</a:t>
            </a:r>
          </a:p>
          <a:p>
            <a:r>
              <a:t>(Takeaway) Nắm vững những tính năng này, anh em sẽ biến công cụ AI thành một trợ lý tự hành đúng nghĩa, làm việc xuyên suốt mọi lúc mọi nơi.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THOẠI DIỄN GIẢ - 0:55 - 1:55]</a:t>
            </a:r>
          </a:p>
          <a:p>
            <a:r>
              <a:t>(Hook) Anh em có bao giờ ước: máy công ty cấu hình khủng cứ việc build code, còn mình thì ra quán trà sữa hay đi họp vẫn check được AI đang viết tới đâu chưa?</a:t>
            </a:r>
          </a:p>
          <a:p>
            <a:r>
              <a:t>(Why) Remote Control sinh ra chính là để giải quyết bài toán đó. Nó không phải là một công cụ remote desktop nặng nề như TeamViewer hay AnyDesk, mà là cầu nối giao diện web trực tiếp vào chính session Antigravity đang chạy trên workstation của anh em.</a:t>
            </a:r>
          </a:p>
          <a:p>
            <a:r>
              <a:t>(How) Toàn bộ mã nguồn, git branch, terminal và công cụ build vẫn chạy 100% tại máy trạm, nhưng giao diện điều khiển, danh sách artifacts và khung chat lại hiển thị mượt mà trên trình duyệt điện thoại hoặc laptop cá nhân. Anh em có thể review diff, ấn duyệt lệnh bash hay prompt bổ sung chỉ bằng một chạm trên điện thoại.</a:t>
            </a:r>
          </a:p>
          <a:p>
            <a:r>
              <a:t>(Takeaway) Remote Control biến cỗ máy bàn của bạn thành server AI cá nhân mà bạn nắm trọn trong lòng bàn tay.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THOẠI DIỄN GIẢ - 1:55 - 3:00]</a:t>
            </a:r>
          </a:p>
          <a:p>
            <a:r>
              <a:t>(Hook) Nhiều anh em sẽ hỏi: 'Remote như vậy có lộ mã nguồn công ty ra ngoài không, thiết lập có phức tạp cần mở port modem không?'.</a:t>
            </a:r>
          </a:p>
          <a:p>
            <a:r>
              <a:t>(Why) Câu trả lời là hoàn toàn không. Google thiết kế cơ chế ghép nối này theo triết lý Zero Trust cực kỳ nghiêm ngặt.</a:t>
            </a:r>
          </a:p>
          <a:p>
            <a:r>
              <a:t>(How) Bước 1: Anh em mở Settings bằng phím Ctrl + ,, vào mục Application và gạt nút 'Enable Remote Control'. Bước 2: Antigravity sẽ sinh ngay một mã QR Code bảo mật. Anh em chỉ cần giơ camera điện thoại lên quét, hoặc truy cập antigravity.google đăng nhập đúng tài khoản Google là kết nối thành công. Toàn bộ phiên làm việc xác thực bằng Token handshake dùng một lần, dữ liệu truyền tải mã hóa end-to-end và không hề mở bất kỳ open port nào trên router nội bộ.</a:t>
            </a:r>
          </a:p>
          <a:p>
            <a:r>
              <a:t>(Takeaway) Tiện lợi tối đa nhưng bảo mật chuẩn doanh nghiệp – anh em hoàn toàn yên tâm dùng trong mạng công 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THOẠI DIỄN GIẢ - 3:00 - 4:05]</a:t>
            </a:r>
          </a:p>
          <a:p>
            <a:r>
              <a:t>(Hook) Đã bao giờ anh em giao cho Agent một task lớn trước khi đi ăn trưa, quay lại thấy màn hình đen ngòm và task bị failed vì máy rơi vào Sleep Mode chưa?</a:t>
            </a:r>
          </a:p>
          <a:p>
            <a:r>
              <a:t>(Why) Mặc định, Windows và macOS đều có chính sách tiết kiệm điện tự động ngủ sau một khoảng thời gian người dùng không gõ phím hay rê chuột. Nhưng với AI Coding Agent, lúc chúng ta không chạm vào máy lại chính là lúc nó đang làm việc vất vả nhất.</a:t>
            </a:r>
          </a:p>
          <a:p>
            <a:r>
              <a:t>(How) Tính năng 'Prevent Sleep' trong App Settings ra đời để giải quyết tận gốc vấn đề này. Khi được bật, Antigravity sẽ gửi tín hiệu giữ màn hình và hệ thống luôn thức (Awake) trong suốt thời gian Agent đang sinh mã hoặc chạy test. Khi Agent hoàn thành xong toàn bộ công việc, hệ thống mới quay trở lại cơ chế sleep bình thường.</a:t>
            </a:r>
          </a:p>
          <a:p>
            <a:r>
              <a:t>(Takeaway) Hãy bật 'Prevent Sleep' ngay hôm nay để yên tâm giao việc lớn xuyên đêm mà không lo đứt gánh giữa đường.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THOẠI DIỄN GIẢ - 4:05 - 5:10]</a:t>
            </a:r>
          </a:p>
          <a:p>
            <a:r>
              <a:t>(Hook) Có hai điều nhỏ nhưng ảnh hưởng cực lớn đến trải nghiệm hàng ngày của anh em: tắt nhầm cửa sổ và lỡ mất thông báo quan trọng.</a:t>
            </a:r>
          </a:p>
          <a:p>
            <a:r>
              <a:t>(Why) Thứ nhất, thói quen bấm nút 'X' để đóng cửa sổ thường vô tình tắt luôn cả ứng dụng đang chạy. Thứ hai, nhiều người tìm mãi trong app không thấy chỗ bật âm báo.</a:t>
            </a:r>
          </a:p>
          <a:p>
            <a:r>
              <a:t>(How) Về tính năng 'Keep In Menu Bar': Khi bật lên, Antigravity sẽ neo thường trực trên khay hệ thống (Windows Taskbar Tray) hoặc Mac Menu Bar. Bấm nút 'X' chỉ là ẩn cửa sổ, app vẫn sống ngầm và sẵn sàng bật lên tức thì bằng phím tắt mà không cần khởi động lại. Về 'Notification Settings': Anh em cần lưu ý, Antigravity không tự quản lý toggle thông báo bên trong app mà đẩy toàn quyền về Settings của Windows/macOS. Anh em chỉ cần cấp quyền thông báo cho Antigravity trong OS Settings là mỗi khi AI xong task hoặc cần duyệt, máy tính và điện thoại đều sẽ ting ting báo ngay.</a:t>
            </a:r>
          </a:p>
          <a:p>
            <a:r>
              <a:t>(Takeaway) Setup đúng 2 mục này giúp anh em luôn phản hồi kịp thời mà không tốn công chờ đợi.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THOẠI DIỄN GIẢ - 5:10 - 6:05]</a:t>
            </a:r>
          </a:p>
          <a:p>
            <a:r>
              <a:t>(Hook) Sau khi đã làm chủ Antigravity, mình muốn chia sẻ thêm một kỹ thuật cực hot trong giới lập trình: Sử dụng Claude Code nhưng chạy bằng Model bên thứ 3 hoặc Model Local qua Ollama. Tại sao chúng ta lại cần điều này?</a:t>
            </a:r>
          </a:p>
          <a:p>
            <a:r>
              <a:t>(Why) Claude Code của Anthropic là một CLI agent xuất sắc nhất hiện nay về khả năng sửa code và chạy terminal, nhưng nó có 2 rào cản lớn: chi phí token API đắt đỏ và chính sách bảo mật dữ liệu công ty không cho phép gửi code lên cloud.</a:t>
            </a:r>
          </a:p>
          <a:p>
            <a:r>
              <a:t>(How) Bằng cách đưa model bên thứ 3 thông qua Ollama, anh em giải quyết được cả 2 bài toán: Thứ nhất, code chạy hoàn toàn local hoặc qua server riêng của công ty, bảo mật 100%. Thứ hai, chi phí token bằng 0 khi dùng các mô hình mã nguồn mở hàng đầu như Qwen 2.5 Coder hay DeepSeek. Chúng ta vừa có 'bộ não' miễn phí/bảo mật, vừa có 'đôi tay' agentic cực kỳ linh hoạt của Claude Code.</a:t>
            </a:r>
          </a:p>
          <a:p>
            <a:r>
              <a:t>(Takeaway) Tận dụng vỏ Claude Code nhưng thay ruột bằng Ollama là cách thông minh nhất để dev thỏa sức dùng AI mà sếp không lo lộ code hay tốn ngân sách.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THOẠI DIỄN GIẢ - 6:05 - 6:55]</a:t>
            </a:r>
          </a:p>
          <a:p>
            <a:r>
              <a:t>(Hook) Nghe thì có vẻ phức tạp nhưng thực tế tích hợp chỉ mất đúng 5 giây với 1 dòng lệnh duy nhất.</a:t>
            </a:r>
          </a:p>
          <a:p>
            <a:r>
              <a:t>(Why) Nhờ Ollama mới đây đã hỗ trợ native giao thức Anthropic Messages API, việc cầu nối giữa Claude Code và Ollama diễn ra hoàn toàn trong suốt.</a:t>
            </a:r>
          </a:p>
          <a:p>
            <a:r>
              <a:t>(How) Cách đơn giản nhất: Anh em chỉ cần gõ 'ollama launch claude --model qwen2.5-coder'. Ollama sẽ tự động bridge và mở giao diện Claude Code kết nối trực tiếp vào model máy bạn. Hoặc nếu muốn cấu hình thủ công trong profile bash/zsh, anh em chỉ cần set 2 biến môi trường: gán ANTHROPIC_BASE_URL trỏ về localhost:11434 và ANTHROPIC_AUTH_TOKEN bằng ollama. Sau đó cứ gõ lệnh 'claude' bình thường! Agent vẫn tự động đọc file, tạo commit, chạy bash script và tìm kiếm code như khi dùng Claude 3.5 Sonnet xịn.</a:t>
            </a:r>
          </a:p>
          <a:p>
            <a:r>
              <a:t>(Takeaway) Chỉ với một dòng lệnh, anh em đã sở hữu một AI Coding Agent độc lập, bảo mật và hoàn toàn miễn phí trên chính máy của mình.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THOẠI DIỄN GIẢ - 6:55 - 7:45]</a:t>
            </a:r>
          </a:p>
          <a:p>
            <a:r>
              <a:t>(Hook) Để khép lại bài chia sẻ hôm nay, mình muốn nhắn nhủ một điều: Công nghệ AI sinh ra là để phục vụ chúng ta, giúp chúng ta làm việc thông minh hơn chứ không phải ngồi gò lưng canh chừng máy tính nhiều hơn.</a:t>
            </a:r>
          </a:p>
          <a:p>
            <a:r>
              <a:t>(Why) Cả Antigravity Remote Control, App Settings và Claude Code tích hợp Ollama đều cùng hướng tới một mục tiêu duy nhất: Tự động hóa triệt để và an tâm tuyệt đối.</a:t>
            </a:r>
          </a:p>
          <a:p>
            <a:r>
              <a:t>(How) Ngay sau buổi này, anh em chỉ cần dành 30 giây làm 3 việc: Một là gạt bật Remote Control trên Antigravity để sẵn sàng lái agent từ điện thoại. Hai là bật Prevent Sleep và Menu Bar resident. Và ba là thử gõ 'ollama launch claude' để trải nghiệm coding agent offline cực kỳ mạnh mẽ.</a:t>
            </a:r>
          </a:p>
          <a:p>
            <a:r>
              <a:t>(Takeaway) Cảm ơn tất cả anh em đã theo dõi! Bây giờ mình xin mở phần Q&amp;A, anh em có câu hỏi hay muốn cùng quét QR thử nghiệm trực tiếp thì chúng ta cùng thảo luận nhé!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65760"/>
          </a:xfrm>
          <a:prstGeom prst="rect">
            <a:avLst/>
          </a:prstGeom>
          <a:noFill/>
        </p:spPr>
        <p:txBody>
          <a:bodyPr wrap="square">
            <a:spAutoFit/>
          </a:bodyPr>
          <a:lstStyle/>
          <a:p>
            <a:pPr>
              <a:defRPr sz="1000" b="1">
                <a:solidFill>
                  <a:srgbClr val="818CF8"/>
                </a:solidFill>
                <a:latin typeface="Segoe UI"/>
              </a:defRPr>
            </a:pPr>
            <a:r>
              <a:t>⚡ CHUYÊN ĐỀ CÔNG NGHỆ NỘI BỘ • 7 PHÚT</a:t>
            </a:r>
          </a:p>
        </p:txBody>
      </p:sp>
      <p:sp>
        <p:nvSpPr>
          <p:cNvPr id="4" name="TextBox 3"/>
          <p:cNvSpPr txBox="1"/>
          <p:nvPr/>
        </p:nvSpPr>
        <p:spPr>
          <a:xfrm>
            <a:off x="10058400" y="365760"/>
            <a:ext cx="1371600" cy="365760"/>
          </a:xfrm>
          <a:prstGeom prst="rect">
            <a:avLst/>
          </a:prstGeom>
          <a:noFill/>
        </p:spPr>
        <p:txBody>
          <a:bodyPr wrap="none">
            <a:spAutoFit/>
          </a:bodyPr>
          <a:lstStyle/>
          <a:p>
            <a:pPr algn="r">
              <a:defRPr sz="1100" b="1">
                <a:solidFill>
                  <a:srgbClr val="38BDF8"/>
                </a:solidFill>
                <a:latin typeface="Consolas"/>
              </a:defRPr>
            </a:pPr>
            <a:r>
              <a:t>01 / 08</a:t>
            </a:r>
          </a:p>
        </p:txBody>
      </p:sp>
      <p:sp>
        <p:nvSpPr>
          <p:cNvPr id="5" name="TextBox 4"/>
          <p:cNvSpPr txBox="1"/>
          <p:nvPr/>
        </p:nvSpPr>
        <p:spPr>
          <a:xfrm>
            <a:off x="731520" y="6446520"/>
            <a:ext cx="10698480" cy="274320"/>
          </a:xfrm>
          <a:prstGeom prst="rect">
            <a:avLst/>
          </a:prstGeom>
          <a:noFill/>
        </p:spPr>
        <p:txBody>
          <a:bodyPr wrap="none">
            <a:spAutoFit/>
          </a:bodyPr>
          <a:lstStyle/>
          <a:p>
            <a:pPr>
              <a:defRPr sz="900">
                <a:solidFill>
                  <a:srgbClr val="64748B"/>
                </a:solidFill>
                <a:latin typeface="Segoe UI"/>
              </a:defRPr>
            </a:pPr>
            <a:r>
              <a:t>Google Antigravity &amp; Claude Code • Internal Tech Sharing • 2026</a:t>
            </a:r>
          </a:p>
        </p:txBody>
      </p:sp>
      <p:sp>
        <p:nvSpPr>
          <p:cNvPr id="6" name="TextBox 5"/>
          <p:cNvSpPr txBox="1"/>
          <p:nvPr/>
        </p:nvSpPr>
        <p:spPr>
          <a:xfrm>
            <a:off x="731520" y="1005840"/>
            <a:ext cx="10698480" cy="2011680"/>
          </a:xfrm>
          <a:prstGeom prst="rect">
            <a:avLst/>
          </a:prstGeom>
          <a:noFill/>
        </p:spPr>
        <p:txBody>
          <a:bodyPr wrap="square">
            <a:spAutoFit/>
          </a:bodyPr>
          <a:lstStyle/>
          <a:p>
            <a:pPr>
              <a:defRPr sz="3200" b="1">
                <a:solidFill>
                  <a:srgbClr val="F8FAFC"/>
                </a:solidFill>
                <a:latin typeface="Segoe UI"/>
              </a:defRPr>
            </a:pPr>
            <a:r>
              <a:t>Tối Ưu Hóa Trải Nghiệm Phát Triển Với AI</a:t>
            </a:r>
          </a:p>
          <a:p>
            <a:pPr>
              <a:spcBef>
                <a:spcPts val="600"/>
              </a:spcBef>
              <a:defRPr sz="2200" b="1">
                <a:solidFill>
                  <a:srgbClr val="38BDF8"/>
                </a:solidFill>
                <a:latin typeface="Segoe UI"/>
              </a:defRPr>
            </a:pPr>
            <a:r>
              <a:t>Làm Chủ Antigravity Remote Control, App Settings &amp; Tích Hợp Claude Code</a:t>
            </a:r>
          </a:p>
          <a:p>
            <a:pPr>
              <a:spcBef>
                <a:spcPts val="800"/>
              </a:spcBef>
              <a:defRPr sz="1300">
                <a:solidFill>
                  <a:srgbClr val="94A3B8"/>
                </a:solidFill>
                <a:latin typeface="Segoe UI"/>
              </a:defRPr>
            </a:pPr>
            <a:r>
              <a:t>Giải phóng kỹ sư khỏi bàn làm việc, bảo vệ dữ liệu tuyệt đối và làm chủ luồng thực thi tự hành.</a:t>
            </a:r>
          </a:p>
        </p:txBody>
      </p:sp>
      <p:sp>
        <p:nvSpPr>
          <p:cNvPr id="7" name="Rounded Rectangle 6"/>
          <p:cNvSpPr/>
          <p:nvPr/>
        </p:nvSpPr>
        <p:spPr>
          <a:xfrm>
            <a:off x="731520" y="3291840"/>
            <a:ext cx="5212080" cy="2834640"/>
          </a:xfrm>
          <a:prstGeom prst="roundRect">
            <a:avLst/>
          </a:prstGeom>
          <a:solidFill>
            <a:srgbClr val="131B2E"/>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600" b="1">
                <a:solidFill>
                  <a:srgbClr val="F43F5E"/>
                </a:solidFill>
                <a:latin typeface="Segoe UI"/>
              </a:defRPr>
            </a:pPr>
            <a:r>
              <a:t>⚠️  Thực Trạng &amp; Rào Cản Thường Gặp</a:t>
            </a:r>
          </a:p>
          <a:p>
            <a:pPr>
              <a:spcBef>
                <a:spcPts val="800"/>
              </a:spcBef>
            </a:pPr>
            <a:r>
              <a:rPr b="1" sz="1150">
                <a:solidFill>
                  <a:srgbClr val="F8FAFC"/>
                </a:solidFill>
              </a:rPr>
              <a:t>❌ Máy ngủ gật (Sleep Mode):</a:t>
            </a:r>
            <a:r>
              <a:rPr sz="1100">
                <a:solidFill>
                  <a:srgbClr val="94A3B8"/>
                </a:solidFill>
              </a:rPr>
              <a:t> AI đang chạy task dài, máy tự tắt làm đứt kết nối.</a:t>
            </a:r>
          </a:p>
          <a:p>
            <a:pPr>
              <a:spcBef>
                <a:spcPts val="800"/>
              </a:spcBef>
            </a:pPr>
            <a:r>
              <a:rPr b="1" sz="1150">
                <a:solidFill>
                  <a:srgbClr val="F8FAFC"/>
                </a:solidFill>
              </a:rPr>
              <a:t>❌ Bị xích vào bàn làm việc:</a:t>
            </a:r>
            <a:r>
              <a:rPr sz="1100">
                <a:solidFill>
                  <a:srgbClr val="94A3B8"/>
                </a:solidFill>
              </a:rPr>
              <a:t> Phải ngồi canh máy chỉ để bấm Approve prompt.</a:t>
            </a:r>
          </a:p>
          <a:p>
            <a:pPr>
              <a:spcBef>
                <a:spcPts val="800"/>
              </a:spcBef>
            </a:pPr>
            <a:r>
              <a:rPr b="1" sz="1150">
                <a:solidFill>
                  <a:srgbClr val="F8FAFC"/>
                </a:solidFill>
              </a:rPr>
              <a:t>❌ Tắt nhầm cửa sổ:</a:t>
            </a:r>
            <a:r>
              <a:rPr sz="1100">
                <a:solidFill>
                  <a:srgbClr val="94A3B8"/>
                </a:solidFill>
              </a:rPr>
              <a:t> Đóng app làm mất context phiên làm việc.</a:t>
            </a:r>
          </a:p>
          <a:p>
            <a:pPr>
              <a:spcBef>
                <a:spcPts val="800"/>
              </a:spcBef>
            </a:pPr>
            <a:r>
              <a:rPr b="1" sz="1150">
                <a:solidFill>
                  <a:srgbClr val="F8FAFC"/>
                </a:solidFill>
              </a:rPr>
              <a:t>❌ Chi phí API &amp; Rò rỉ code:</a:t>
            </a:r>
            <a:r>
              <a:rPr sz="1100">
                <a:solidFill>
                  <a:srgbClr val="94A3B8"/>
                </a:solidFill>
              </a:rPr>
              <a:t> Dùng cloud agent lo ngại lộ source code mật.</a:t>
            </a:r>
          </a:p>
        </p:txBody>
      </p:sp>
      <p:sp>
        <p:nvSpPr>
          <p:cNvPr id="8" name="Rounded Rectangle 7"/>
          <p:cNvSpPr/>
          <p:nvPr/>
        </p:nvSpPr>
        <p:spPr>
          <a:xfrm>
            <a:off x="6217920" y="3291840"/>
            <a:ext cx="5212080" cy="2834640"/>
          </a:xfrm>
          <a:prstGeom prst="roundRect">
            <a:avLst/>
          </a:prstGeom>
          <a:solidFill>
            <a:srgbClr val="131B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600" b="1">
                <a:solidFill>
                  <a:srgbClr val="34D399"/>
                </a:solidFill>
                <a:latin typeface="Segoe UI"/>
              </a:defRPr>
            </a:pPr>
            <a:r>
              <a:t>🚀  Mục Tiêu &amp; Chuẩn Thực Chiến 2026</a:t>
            </a:r>
          </a:p>
          <a:p>
            <a:pPr>
              <a:spcBef>
                <a:spcPts val="800"/>
              </a:spcBef>
            </a:pPr>
            <a:r>
              <a:rPr b="1" sz="1150">
                <a:solidFill>
                  <a:srgbClr val="F8FAFC"/>
                </a:solidFill>
              </a:rPr>
              <a:t>✅ Remote Control linh hoạt:</a:t>
            </a:r>
            <a:r>
              <a:rPr sz="1100">
                <a:solidFill>
                  <a:srgbClr val="94A3B8"/>
                </a:solidFill>
              </a:rPr>
              <a:t> Quản lý Agent trên PC từ điện thoại di động mọi lúc.</a:t>
            </a:r>
          </a:p>
          <a:p>
            <a:pPr>
              <a:spcBef>
                <a:spcPts val="800"/>
              </a:spcBef>
            </a:pPr>
            <a:r>
              <a:rPr b="1" sz="1150">
                <a:solidFill>
                  <a:srgbClr val="F8FAFC"/>
                </a:solidFill>
              </a:rPr>
              <a:t>✅ Prevent Sleep:</a:t>
            </a:r>
            <a:r>
              <a:rPr sz="1100">
                <a:solidFill>
                  <a:srgbClr val="94A3B8"/>
                </a:solidFill>
              </a:rPr>
              <a:t> Giữ máy luôn thức trong lúc Agent viết code ngầm xuyên đêm.</a:t>
            </a:r>
          </a:p>
          <a:p>
            <a:pPr>
              <a:spcBef>
                <a:spcPts val="800"/>
              </a:spcBef>
            </a:pPr>
            <a:r>
              <a:rPr b="1" sz="1150">
                <a:solidFill>
                  <a:srgbClr val="F8FAFC"/>
                </a:solidFill>
              </a:rPr>
              <a:t>✅ Keep In Menu Bar:</a:t>
            </a:r>
            <a:r>
              <a:rPr sz="1100">
                <a:solidFill>
                  <a:srgbClr val="94A3B8"/>
                </a:solidFill>
              </a:rPr>
              <a:t> Thường trực trên thanh hệ thống, mở ra ngay lập tức.</a:t>
            </a:r>
          </a:p>
          <a:p>
            <a:pPr>
              <a:spcBef>
                <a:spcPts val="800"/>
              </a:spcBef>
            </a:pPr>
            <a:r>
              <a:rPr b="1" sz="1150">
                <a:solidFill>
                  <a:srgbClr val="F8FAFC"/>
                </a:solidFill>
              </a:rPr>
              <a:t>✅ Local LLMs via Ollama:</a:t>
            </a:r>
            <a:r>
              <a:rPr sz="1100">
                <a:solidFill>
                  <a:srgbClr val="94A3B8"/>
                </a:solidFill>
              </a:rPr>
              <a:t> Tích hợp model nội bộ vào Claude Code 0% phí token &amp; bảo mật 100%.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65760"/>
          </a:xfrm>
          <a:prstGeom prst="rect">
            <a:avLst/>
          </a:prstGeom>
          <a:noFill/>
        </p:spPr>
        <p:txBody>
          <a:bodyPr wrap="square">
            <a:spAutoFit/>
          </a:bodyPr>
          <a:lstStyle/>
          <a:p>
            <a:pPr>
              <a:defRPr sz="1000" b="1">
                <a:solidFill>
                  <a:srgbClr val="818CF8"/>
                </a:solidFill>
                <a:latin typeface="Segoe UI"/>
              </a:defRPr>
            </a:pPr>
            <a:r>
              <a:t>🌐 TÍNH NĂNG ĐỘT PHÁ • CROSS-DEVICE AGENT</a:t>
            </a:r>
          </a:p>
        </p:txBody>
      </p:sp>
      <p:sp>
        <p:nvSpPr>
          <p:cNvPr id="4" name="TextBox 3"/>
          <p:cNvSpPr txBox="1"/>
          <p:nvPr/>
        </p:nvSpPr>
        <p:spPr>
          <a:xfrm>
            <a:off x="10058400" y="365760"/>
            <a:ext cx="1371600" cy="365760"/>
          </a:xfrm>
          <a:prstGeom prst="rect">
            <a:avLst/>
          </a:prstGeom>
          <a:noFill/>
        </p:spPr>
        <p:txBody>
          <a:bodyPr wrap="none">
            <a:spAutoFit/>
          </a:bodyPr>
          <a:lstStyle/>
          <a:p>
            <a:pPr algn="r">
              <a:defRPr sz="1100" b="1">
                <a:solidFill>
                  <a:srgbClr val="38BDF8"/>
                </a:solidFill>
                <a:latin typeface="Consolas"/>
              </a:defRPr>
            </a:pPr>
            <a:r>
              <a:t>02 / 08</a:t>
            </a:r>
          </a:p>
        </p:txBody>
      </p:sp>
      <p:sp>
        <p:nvSpPr>
          <p:cNvPr id="5" name="TextBox 4"/>
          <p:cNvSpPr txBox="1"/>
          <p:nvPr/>
        </p:nvSpPr>
        <p:spPr>
          <a:xfrm>
            <a:off x="731520" y="6446520"/>
            <a:ext cx="10698480" cy="274320"/>
          </a:xfrm>
          <a:prstGeom prst="rect">
            <a:avLst/>
          </a:prstGeom>
          <a:noFill/>
        </p:spPr>
        <p:txBody>
          <a:bodyPr wrap="none">
            <a:spAutoFit/>
          </a:bodyPr>
          <a:lstStyle/>
          <a:p>
            <a:pPr>
              <a:defRPr sz="900">
                <a:solidFill>
                  <a:srgbClr val="64748B"/>
                </a:solidFill>
                <a:latin typeface="Segoe UI"/>
              </a:defRPr>
            </a:pPr>
            <a:r>
              <a:t>Google Antigravity &amp; Claude Code • Internal Tech Sharing • 2026</a:t>
            </a:r>
          </a:p>
        </p:txBody>
      </p:sp>
      <p:sp>
        <p:nvSpPr>
          <p:cNvPr id="6" name="TextBox 5"/>
          <p:cNvSpPr txBox="1"/>
          <p:nvPr/>
        </p:nvSpPr>
        <p:spPr>
          <a:xfrm>
            <a:off x="731520" y="685800"/>
            <a:ext cx="10698480" cy="1005840"/>
          </a:xfrm>
          <a:prstGeom prst="rect">
            <a:avLst/>
          </a:prstGeom>
          <a:noFill/>
        </p:spPr>
        <p:txBody>
          <a:bodyPr wrap="square" lIns="0" tIns="0" rIns="0" bIns="0">
            <a:spAutoFit/>
          </a:bodyPr>
          <a:lstStyle/>
          <a:p>
            <a:pPr>
              <a:defRPr sz="2600" b="1">
                <a:solidFill>
                  <a:srgbClr val="F8FAFC"/>
                </a:solidFill>
                <a:latin typeface="Segoe UI"/>
              </a:defRPr>
            </a:pPr>
            <a:r>
              <a:t>Antigravity Remote Control Là Gì?</a:t>
            </a:r>
          </a:p>
          <a:p>
            <a:pPr>
              <a:spcBef>
                <a:spcPts val="400"/>
              </a:spcBef>
              <a:defRPr sz="1300">
                <a:solidFill>
                  <a:srgbClr val="94A3B8"/>
                </a:solidFill>
                <a:latin typeface="Segoe UI"/>
              </a:defRPr>
            </a:pPr>
            <a:r>
              <a:t>Giải pháp lái, giám sát và tương tác với AI Agent từ xa trên mọi thiết bị.</a:t>
            </a:r>
          </a:p>
        </p:txBody>
      </p:sp>
      <p:sp>
        <p:nvSpPr>
          <p:cNvPr id="7" name="Rounded Rectangle 6"/>
          <p:cNvSpPr/>
          <p:nvPr/>
        </p:nvSpPr>
        <p:spPr>
          <a:xfrm>
            <a:off x="731520" y="2011680"/>
            <a:ext cx="5212080" cy="4114800"/>
          </a:xfrm>
          <a:prstGeom prst="roundRect">
            <a:avLst/>
          </a:prstGeom>
          <a:solidFill>
            <a:srgbClr val="131B2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600" b="1">
                <a:solidFill>
                  <a:srgbClr val="F59E0B"/>
                </a:solidFill>
                <a:latin typeface="Segoe UI"/>
              </a:defRPr>
            </a:pPr>
            <a:r>
              <a:t>🏢 Cách Làm Cũ (Workstation Bound)</a:t>
            </a:r>
          </a:p>
          <a:p>
            <a:pPr>
              <a:spcBef>
                <a:spcPts val="1200"/>
              </a:spcBef>
            </a:pPr>
            <a:r>
              <a:rPr b="1" sz="1200">
                <a:solidFill>
                  <a:srgbClr val="F8FAFC"/>
                </a:solidFill>
              </a:rPr>
              <a:t>• Gò bó vị trí:</a:t>
            </a:r>
            <a:r>
              <a:rPr sz="1150">
                <a:solidFill>
                  <a:srgbClr val="94A3B8"/>
                </a:solidFill>
              </a:rPr>
              <a:t> Phải ngồi trực tiếp trước màn hình máy tính công ty để xem Agent sinh code.</a:t>
            </a:r>
          </a:p>
          <a:p>
            <a:pPr>
              <a:spcBef>
                <a:spcPts val="1200"/>
              </a:spcBef>
            </a:pPr>
            <a:r>
              <a:rPr b="1" sz="1200">
                <a:solidFill>
                  <a:srgbClr val="F8FAFC"/>
                </a:solidFill>
              </a:rPr>
              <a:t>• Gián đoạn khi di chuyển:</a:t>
            </a:r>
            <a:r>
              <a:rPr sz="1150">
                <a:solidFill>
                  <a:srgbClr val="94A3B8"/>
                </a:solidFill>
              </a:rPr>
              <a:t> Rời bàn làm việc đi họp, đi ăn trưa là hoàn toàn mù thông tin về tiến độ.</a:t>
            </a:r>
          </a:p>
          <a:p>
            <a:pPr>
              <a:spcBef>
                <a:spcPts val="1200"/>
              </a:spcBef>
            </a:pPr>
            <a:r>
              <a:rPr b="1" sz="1200">
                <a:solidFill>
                  <a:srgbClr val="F8FAFC"/>
                </a:solidFill>
              </a:rPr>
              <a:t>• Phê duyệt thủ công chậm trễ:</a:t>
            </a:r>
            <a:r>
              <a:rPr sz="1150">
                <a:solidFill>
                  <a:srgbClr val="94A3B8"/>
                </a:solidFill>
              </a:rPr>
              <a:t> Agent dừng lại chờ câu trả lời xác nhận (Approve prompt / Bash tool), cả quy trình bị tắc nghẽn.</a:t>
            </a:r>
          </a:p>
          <a:p>
            <a:pPr>
              <a:spcBef>
                <a:spcPts val="1200"/>
              </a:spcBef>
            </a:pPr>
            <a:r>
              <a:rPr b="1" sz="1200">
                <a:solidFill>
                  <a:srgbClr val="F8FAFC"/>
                </a:solidFill>
              </a:rPr>
              <a:t>• Remote Desktop cồng kềnh:</a:t>
            </a:r>
            <a:r>
              <a:rPr sz="1150">
                <a:solidFill>
                  <a:srgbClr val="94A3B8"/>
                </a:solidFill>
              </a:rPr>
              <a:t> Dùng TeamViewer, AnyDesk ngốn băng thông, lag giật trên điện thoại.</a:t>
            </a:r>
          </a:p>
        </p:txBody>
      </p:sp>
      <p:sp>
        <p:nvSpPr>
          <p:cNvPr id="8" name="Rounded Rectangle 7"/>
          <p:cNvSpPr/>
          <p:nvPr/>
        </p:nvSpPr>
        <p:spPr>
          <a:xfrm>
            <a:off x="6217920" y="2011680"/>
            <a:ext cx="5212080" cy="4114800"/>
          </a:xfrm>
          <a:prstGeom prst="roundRect">
            <a:avLst/>
          </a:prstGeom>
          <a:solidFill>
            <a:srgbClr val="131B2E"/>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600" b="1">
                <a:solidFill>
                  <a:srgbClr val="38BDF8"/>
                </a:solidFill>
                <a:latin typeface="Segoe UI"/>
              </a:defRPr>
            </a:pPr>
            <a:r>
              <a:t>⚡ Chuẩn Remote Control (Bất Kỳ Đâu)</a:t>
            </a:r>
          </a:p>
          <a:p>
            <a:pPr>
              <a:spcBef>
                <a:spcPts val="1200"/>
              </a:spcBef>
            </a:pPr>
            <a:r>
              <a:rPr b="1" sz="1200">
                <a:solidFill>
                  <a:srgbClr val="34D399"/>
                </a:solidFill>
              </a:rPr>
              <a:t>✔ Mobile First Web UI:</a:t>
            </a:r>
            <a:r>
              <a:rPr sz="1150">
                <a:solidFill>
                  <a:srgbClr val="94A3B8"/>
                </a:solidFill>
              </a:rPr>
              <a:t> Giao diện web siêu nhẹ trên smartphone, tối ưu hóa cho màn hình cảm ứng.</a:t>
            </a:r>
          </a:p>
          <a:p>
            <a:pPr>
              <a:spcBef>
                <a:spcPts val="1200"/>
              </a:spcBef>
            </a:pPr>
            <a:r>
              <a:rPr b="1" sz="1200">
                <a:solidFill>
                  <a:srgbClr val="34D399"/>
                </a:solidFill>
              </a:rPr>
              <a:t>✔ Theo dõi Artifacts Thời Gian Thực:</a:t>
            </a:r>
            <a:r>
              <a:rPr sz="1150">
                <a:solidFill>
                  <a:srgbClr val="94A3B8"/>
                </a:solidFill>
              </a:rPr>
              <a:t> Xem file diff, tiến độ subagent, command logs trực tiếp khi đang di chuyển.</a:t>
            </a:r>
          </a:p>
          <a:p>
            <a:pPr>
              <a:spcBef>
                <a:spcPts val="1200"/>
              </a:spcBef>
            </a:pPr>
            <a:r>
              <a:rPr b="1" sz="1200">
                <a:solidFill>
                  <a:srgbClr val="34D399"/>
                </a:solidFill>
              </a:rPr>
              <a:t>✔ Tương tác &amp; Phê duyệt 1 chạm:</a:t>
            </a:r>
            <a:r>
              <a:rPr sz="1150">
                <a:solidFill>
                  <a:srgbClr val="94A3B8"/>
                </a:solidFill>
              </a:rPr>
              <a:t> Nhấn 'Approve' hoặc gõ hướng dẫn bổ sung cho Agent ngay từ điện thoại.</a:t>
            </a:r>
          </a:p>
          <a:p>
            <a:pPr>
              <a:spcBef>
                <a:spcPts val="1200"/>
              </a:spcBef>
            </a:pPr>
            <a:r>
              <a:rPr b="1" sz="1200">
                <a:solidFill>
                  <a:srgbClr val="34D399"/>
                </a:solidFill>
              </a:rPr>
              <a:t>✔ Giữ trọn môi trường Local:</a:t>
            </a:r>
            <a:r>
              <a:rPr sz="1150">
                <a:solidFill>
                  <a:srgbClr val="94A3B8"/>
                </a:solidFill>
              </a:rPr>
              <a:t> Máy trạm chịu trách nhiệm build, test, git; điện thoại đóng vai trò remote dashboard.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65760"/>
          </a:xfrm>
          <a:prstGeom prst="rect">
            <a:avLst/>
          </a:prstGeom>
          <a:noFill/>
        </p:spPr>
        <p:txBody>
          <a:bodyPr wrap="square">
            <a:spAutoFit/>
          </a:bodyPr>
          <a:lstStyle/>
          <a:p>
            <a:pPr>
              <a:defRPr sz="1000" b="1">
                <a:solidFill>
                  <a:srgbClr val="818CF8"/>
                </a:solidFill>
                <a:latin typeface="Segoe UI"/>
              </a:defRPr>
            </a:pPr>
            <a:r>
              <a:t>🔐 CƠ CHẾ VẬN HÀNH • BẢO MẬT ZERO TRUST</a:t>
            </a:r>
          </a:p>
        </p:txBody>
      </p:sp>
      <p:sp>
        <p:nvSpPr>
          <p:cNvPr id="4" name="TextBox 3"/>
          <p:cNvSpPr txBox="1"/>
          <p:nvPr/>
        </p:nvSpPr>
        <p:spPr>
          <a:xfrm>
            <a:off x="10058400" y="365760"/>
            <a:ext cx="1371600" cy="365760"/>
          </a:xfrm>
          <a:prstGeom prst="rect">
            <a:avLst/>
          </a:prstGeom>
          <a:noFill/>
        </p:spPr>
        <p:txBody>
          <a:bodyPr wrap="none">
            <a:spAutoFit/>
          </a:bodyPr>
          <a:lstStyle/>
          <a:p>
            <a:pPr algn="r">
              <a:defRPr sz="1100" b="1">
                <a:solidFill>
                  <a:srgbClr val="38BDF8"/>
                </a:solidFill>
                <a:latin typeface="Consolas"/>
              </a:defRPr>
            </a:pPr>
            <a:r>
              <a:t>03 / 08</a:t>
            </a:r>
          </a:p>
        </p:txBody>
      </p:sp>
      <p:sp>
        <p:nvSpPr>
          <p:cNvPr id="5" name="TextBox 4"/>
          <p:cNvSpPr txBox="1"/>
          <p:nvPr/>
        </p:nvSpPr>
        <p:spPr>
          <a:xfrm>
            <a:off x="731520" y="6446520"/>
            <a:ext cx="10698480" cy="274320"/>
          </a:xfrm>
          <a:prstGeom prst="rect">
            <a:avLst/>
          </a:prstGeom>
          <a:noFill/>
        </p:spPr>
        <p:txBody>
          <a:bodyPr wrap="none">
            <a:spAutoFit/>
          </a:bodyPr>
          <a:lstStyle/>
          <a:p>
            <a:pPr>
              <a:defRPr sz="900">
                <a:solidFill>
                  <a:srgbClr val="64748B"/>
                </a:solidFill>
                <a:latin typeface="Segoe UI"/>
              </a:defRPr>
            </a:pPr>
            <a:r>
              <a:t>Google Antigravity &amp; Claude Code • Internal Tech Sharing • 2026</a:t>
            </a:r>
          </a:p>
        </p:txBody>
      </p:sp>
      <p:sp>
        <p:nvSpPr>
          <p:cNvPr id="6" name="TextBox 5"/>
          <p:cNvSpPr txBox="1"/>
          <p:nvPr/>
        </p:nvSpPr>
        <p:spPr>
          <a:xfrm>
            <a:off x="731520" y="685800"/>
            <a:ext cx="10698480" cy="1005840"/>
          </a:xfrm>
          <a:prstGeom prst="rect">
            <a:avLst/>
          </a:prstGeom>
          <a:noFill/>
        </p:spPr>
        <p:txBody>
          <a:bodyPr wrap="square" lIns="0" tIns="0" rIns="0" bIns="0">
            <a:spAutoFit/>
          </a:bodyPr>
          <a:lstStyle/>
          <a:p>
            <a:pPr>
              <a:defRPr sz="2600" b="1">
                <a:solidFill>
                  <a:srgbClr val="F8FAFC"/>
                </a:solidFill>
                <a:latin typeface="Segoe UI"/>
              </a:defRPr>
            </a:pPr>
            <a:r>
              <a:t>Cơ Chế Ghép Nối &amp; Kiến Trúc Bảo Mật</a:t>
            </a:r>
          </a:p>
          <a:p>
            <a:pPr>
              <a:spcBef>
                <a:spcPts val="400"/>
              </a:spcBef>
              <a:defRPr sz="1300">
                <a:solidFill>
                  <a:srgbClr val="94A3B8"/>
                </a:solidFill>
                <a:latin typeface="Segoe UI"/>
              </a:defRPr>
            </a:pPr>
            <a:r>
              <a:t>Cách bật Remote Control trong 10 giây và kiến trúc bảo vệ dữ liệu doanh nghiệp.</a:t>
            </a:r>
          </a:p>
        </p:txBody>
      </p:sp>
      <p:sp>
        <p:nvSpPr>
          <p:cNvPr id="7" name="Rounded Rectangle 6"/>
          <p:cNvSpPr/>
          <p:nvPr/>
        </p:nvSpPr>
        <p:spPr>
          <a:xfrm>
            <a:off x="731520" y="2011680"/>
            <a:ext cx="3383280" cy="4114800"/>
          </a:xfrm>
          <a:prstGeom prst="roundRect">
            <a:avLst/>
          </a:prstGeom>
          <a:solidFill>
            <a:srgbClr val="131B2E"/>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200" b="1">
                <a:solidFill>
                  <a:srgbClr val="38BDF8"/>
                </a:solidFill>
                <a:latin typeface="Segoe UI"/>
              </a:defRPr>
            </a:pPr>
            <a:r>
              <a:t>BƯỚC 1: KÍCH HOẠT</a:t>
            </a:r>
          </a:p>
          <a:p>
            <a:pPr>
              <a:spcBef>
                <a:spcPts val="400"/>
              </a:spcBef>
              <a:defRPr sz="1700" b="1">
                <a:solidFill>
                  <a:srgbClr val="F8FAFC"/>
                </a:solidFill>
                <a:latin typeface="Segoe UI"/>
              </a:defRPr>
            </a:pPr>
            <a:r>
              <a:t>⚙️ Bật Trong Settings</a:t>
            </a:r>
          </a:p>
          <a:p>
            <a:pPr>
              <a:spcBef>
                <a:spcPts val="800"/>
              </a:spcBef>
            </a:pPr>
            <a:r>
              <a:rPr b="1" sz="1100">
                <a:solidFill>
                  <a:srgbClr val="F8FAFC"/>
                </a:solidFill>
              </a:rPr>
              <a:t>• Mở Settings:</a:t>
            </a:r>
            <a:r>
              <a:rPr sz="1050">
                <a:solidFill>
                  <a:srgbClr val="94A3B8"/>
                </a:solidFill>
              </a:rPr>
              <a:t> Phím tắt Ctrl + , (Windows/Linux) hoặc Cmd + , (macOS).</a:t>
            </a:r>
          </a:p>
          <a:p>
            <a:pPr>
              <a:spcBef>
                <a:spcPts val="800"/>
              </a:spcBef>
            </a:pPr>
            <a:r>
              <a:rPr b="1" sz="1100">
                <a:solidFill>
                  <a:srgbClr val="F8FAFC"/>
                </a:solidFill>
              </a:rPr>
              <a:t>• Chọn mục Application:</a:t>
            </a:r>
            <a:r>
              <a:rPr sz="1050">
                <a:solidFill>
                  <a:srgbClr val="94A3B8"/>
                </a:solidFill>
              </a:rPr>
              <a:t> Danh mục cấu hình hệ thống cấp ứng dụng.</a:t>
            </a:r>
          </a:p>
          <a:p>
            <a:pPr>
              <a:spcBef>
                <a:spcPts val="800"/>
              </a:spcBef>
            </a:pPr>
            <a:r>
              <a:rPr b="1" sz="1100">
                <a:solidFill>
                  <a:srgbClr val="F8FAFC"/>
                </a:solidFill>
              </a:rPr>
              <a:t>• Gạt toggle:</a:t>
            </a:r>
            <a:r>
              <a:rPr sz="1050">
                <a:solidFill>
                  <a:srgbClr val="94A3B8"/>
                </a:solidFill>
              </a:rPr>
              <a:t> Chuyển 'Enable Remote Control' sang ON.</a:t>
            </a:r>
          </a:p>
          <a:p>
            <a:pPr>
              <a:spcBef>
                <a:spcPts val="800"/>
              </a:spcBef>
            </a:pPr>
            <a:r>
              <a:rPr b="1" sz="1100">
                <a:solidFill>
                  <a:srgbClr val="F8FAFC"/>
                </a:solidFill>
              </a:rPr>
              <a:t>• Lệnh CLI tương đương:</a:t>
            </a:r>
            <a:r>
              <a:rPr sz="1050">
                <a:solidFill>
                  <a:srgbClr val="94A3B8"/>
                </a:solidFill>
              </a:rPr>
              <a:t> Gõ 'agy --remote-control' hoặc slash command '/remote-control'.</a:t>
            </a:r>
          </a:p>
        </p:txBody>
      </p:sp>
      <p:sp>
        <p:nvSpPr>
          <p:cNvPr id="8" name="Rounded Rectangle 7"/>
          <p:cNvSpPr/>
          <p:nvPr/>
        </p:nvSpPr>
        <p:spPr>
          <a:xfrm>
            <a:off x="4389120" y="2011680"/>
            <a:ext cx="3383280" cy="4114800"/>
          </a:xfrm>
          <a:prstGeom prst="roundRect">
            <a:avLst/>
          </a:prstGeom>
          <a:solidFill>
            <a:srgbClr val="131B2E"/>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200" b="1">
                <a:solidFill>
                  <a:srgbClr val="818CF8"/>
                </a:solidFill>
                <a:latin typeface="Segoe UI"/>
              </a:defRPr>
            </a:pPr>
            <a:r>
              <a:t>BƯỚC 2: GHÉP NỐI</a:t>
            </a:r>
          </a:p>
          <a:p>
            <a:pPr>
              <a:spcBef>
                <a:spcPts val="400"/>
              </a:spcBef>
              <a:defRPr sz="1700" b="1">
                <a:solidFill>
                  <a:srgbClr val="F8FAFC"/>
                </a:solidFill>
                <a:latin typeface="Segoe UI"/>
              </a:defRPr>
            </a:pPr>
            <a:r>
              <a:t>📱 Quét QR Code &amp; URL</a:t>
            </a:r>
          </a:p>
          <a:p>
            <a:pPr>
              <a:spcBef>
                <a:spcPts val="800"/>
              </a:spcBef>
            </a:pPr>
            <a:r>
              <a:rPr b="1" sz="1100">
                <a:solidFill>
                  <a:srgbClr val="F8FAFC"/>
                </a:solidFill>
              </a:rPr>
              <a:t>• Mã QR bảo mật:</a:t>
            </a:r>
            <a:r>
              <a:rPr sz="1050">
                <a:solidFill>
                  <a:srgbClr val="94A3B8"/>
                </a:solidFill>
              </a:rPr>
              <a:t> Máy tính sinh ngay một QR Handshake động trên màn hình.</a:t>
            </a:r>
          </a:p>
          <a:p>
            <a:pPr>
              <a:spcBef>
                <a:spcPts val="800"/>
              </a:spcBef>
            </a:pPr>
            <a:r>
              <a:rPr b="1" sz="1100">
                <a:solidFill>
                  <a:srgbClr val="F8FAFC"/>
                </a:solidFill>
              </a:rPr>
              <a:t>• Quét bằng Camera:</a:t>
            </a:r>
            <a:r>
              <a:rPr sz="1050">
                <a:solidFill>
                  <a:srgbClr val="94A3B8"/>
                </a:solidFill>
              </a:rPr>
              <a:t> Dùng camera điện thoại quét mã để mở ngay session trong 2 giây.</a:t>
            </a:r>
          </a:p>
          <a:p>
            <a:pPr>
              <a:spcBef>
                <a:spcPts val="800"/>
              </a:spcBef>
            </a:pPr>
            <a:r>
              <a:rPr b="1" sz="1100">
                <a:solidFill>
                  <a:srgbClr val="F8FAFC"/>
                </a:solidFill>
              </a:rPr>
              <a:t>• Truy cập qua Web:</a:t>
            </a:r>
            <a:r>
              <a:rPr sz="1050">
                <a:solidFill>
                  <a:srgbClr val="94A3B8"/>
                </a:solidFill>
              </a:rPr>
              <a:t> Vào antigravity.google và đăng nhập Google Account.</a:t>
            </a:r>
          </a:p>
          <a:p>
            <a:pPr>
              <a:spcBef>
                <a:spcPts val="800"/>
              </a:spcBef>
            </a:pPr>
            <a:r>
              <a:rPr b="1" sz="1100">
                <a:solidFill>
                  <a:srgbClr val="F8FAFC"/>
                </a:solidFill>
              </a:rPr>
              <a:t>• Quản lý Host:</a:t>
            </a:r>
            <a:r>
              <a:rPr sz="1050">
                <a:solidFill>
                  <a:srgbClr val="94A3B8"/>
                </a:solidFill>
              </a:rPr>
              <a:t> Dashboard liệt kê toàn bộ các máy trạm đang mở quyền Remote.</a:t>
            </a:r>
          </a:p>
        </p:txBody>
      </p:sp>
      <p:sp>
        <p:nvSpPr>
          <p:cNvPr id="9" name="Rounded Rectangle 8"/>
          <p:cNvSpPr/>
          <p:nvPr/>
        </p:nvSpPr>
        <p:spPr>
          <a:xfrm>
            <a:off x="8046720" y="2011680"/>
            <a:ext cx="3383280" cy="4114800"/>
          </a:xfrm>
          <a:prstGeom prst="roundRect">
            <a:avLst/>
          </a:prstGeom>
          <a:solidFill>
            <a:srgbClr val="131B2E"/>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200" b="1">
                <a:solidFill>
                  <a:srgbClr val="34D399"/>
                </a:solidFill>
                <a:latin typeface="Segoe UI"/>
              </a:defRPr>
            </a:pPr>
            <a:r>
              <a:t>TIÊU CHUẨN AN TOÀN</a:t>
            </a:r>
          </a:p>
          <a:p>
            <a:pPr>
              <a:spcBef>
                <a:spcPts val="400"/>
              </a:spcBef>
              <a:defRPr sz="1700" b="1">
                <a:solidFill>
                  <a:srgbClr val="F8FAFC"/>
                </a:solidFill>
                <a:latin typeface="Segoe UI"/>
              </a:defRPr>
            </a:pPr>
            <a:r>
              <a:t>🛡️ Bảo Mật Doanh Nghiệp</a:t>
            </a:r>
          </a:p>
          <a:p>
            <a:pPr>
              <a:spcBef>
                <a:spcPts val="800"/>
              </a:spcBef>
            </a:pPr>
            <a:r>
              <a:rPr b="1" sz="1100">
                <a:solidFill>
                  <a:srgbClr val="F8FAFC"/>
                </a:solidFill>
              </a:rPr>
              <a:t>• Token Handshake:</a:t>
            </a:r>
            <a:r>
              <a:rPr sz="1050">
                <a:solidFill>
                  <a:srgbClr val="94A3B8"/>
                </a:solidFill>
              </a:rPr>
              <a:t> Mã xác thực dùng 1 lần, chống dò quét IP trái phép.</a:t>
            </a:r>
          </a:p>
          <a:p>
            <a:pPr>
              <a:spcBef>
                <a:spcPts val="800"/>
              </a:spcBef>
            </a:pPr>
            <a:r>
              <a:rPr b="1" sz="1100">
                <a:solidFill>
                  <a:srgbClr val="F8FAFC"/>
                </a:solidFill>
              </a:rPr>
              <a:t>• Không mở Open Port:</a:t>
            </a:r>
            <a:r>
              <a:rPr sz="1050">
                <a:solidFill>
                  <a:srgbClr val="94A3B8"/>
                </a:solidFill>
              </a:rPr>
              <a:t> Hoạt động an toàn sau tường lửa (Firewall) và VPN công ty.</a:t>
            </a:r>
          </a:p>
          <a:p>
            <a:pPr>
              <a:spcBef>
                <a:spcPts val="800"/>
              </a:spcBef>
            </a:pPr>
            <a:r>
              <a:rPr b="1" sz="1100">
                <a:solidFill>
                  <a:srgbClr val="F8FAFC"/>
                </a:solidFill>
              </a:rPr>
              <a:t>• Google Account SSO:</a:t>
            </a:r>
            <a:r>
              <a:rPr sz="1050">
                <a:solidFill>
                  <a:srgbClr val="94A3B8"/>
                </a:solidFill>
              </a:rPr>
              <a:t> Hỗ trợ Google Workspace công ty và Workload Identity Federation.</a:t>
            </a:r>
          </a:p>
          <a:p>
            <a:pPr>
              <a:spcBef>
                <a:spcPts val="800"/>
              </a:spcBef>
            </a:pPr>
            <a:r>
              <a:rPr b="1" sz="1100">
                <a:solidFill>
                  <a:srgbClr val="F8FAFC"/>
                </a:solidFill>
              </a:rPr>
              <a:t>• Boundary An Toàn:</a:t>
            </a:r>
            <a:r>
              <a:rPr sz="1050">
                <a:solidFill>
                  <a:srgbClr val="94A3B8"/>
                </a:solidFill>
              </a:rPr>
              <a:t> Mã nguồn, token Git, secrets nằm nguyên vẹn tại máy trạm.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65760"/>
          </a:xfrm>
          <a:prstGeom prst="rect">
            <a:avLst/>
          </a:prstGeom>
          <a:noFill/>
        </p:spPr>
        <p:txBody>
          <a:bodyPr wrap="square">
            <a:spAutoFit/>
          </a:bodyPr>
          <a:lstStyle/>
          <a:p>
            <a:pPr>
              <a:defRPr sz="1000" b="1">
                <a:solidFill>
                  <a:srgbClr val="818CF8"/>
                </a:solidFill>
                <a:latin typeface="Segoe UI"/>
              </a:defRPr>
            </a:pPr>
            <a:r>
              <a:t>☕ CÀI ĐẶT HỆ THỐNG • LIÊN TỤC KHÔNG GIÁN ĐOẠN</a:t>
            </a:r>
          </a:p>
        </p:txBody>
      </p:sp>
      <p:sp>
        <p:nvSpPr>
          <p:cNvPr id="4" name="TextBox 3"/>
          <p:cNvSpPr txBox="1"/>
          <p:nvPr/>
        </p:nvSpPr>
        <p:spPr>
          <a:xfrm>
            <a:off x="10058400" y="365760"/>
            <a:ext cx="1371600" cy="365760"/>
          </a:xfrm>
          <a:prstGeom prst="rect">
            <a:avLst/>
          </a:prstGeom>
          <a:noFill/>
        </p:spPr>
        <p:txBody>
          <a:bodyPr wrap="none">
            <a:spAutoFit/>
          </a:bodyPr>
          <a:lstStyle/>
          <a:p>
            <a:pPr algn="r">
              <a:defRPr sz="1100" b="1">
                <a:solidFill>
                  <a:srgbClr val="38BDF8"/>
                </a:solidFill>
                <a:latin typeface="Consolas"/>
              </a:defRPr>
            </a:pPr>
            <a:r>
              <a:t>04 / 08</a:t>
            </a:r>
          </a:p>
        </p:txBody>
      </p:sp>
      <p:sp>
        <p:nvSpPr>
          <p:cNvPr id="5" name="TextBox 4"/>
          <p:cNvSpPr txBox="1"/>
          <p:nvPr/>
        </p:nvSpPr>
        <p:spPr>
          <a:xfrm>
            <a:off x="731520" y="6446520"/>
            <a:ext cx="10698480" cy="274320"/>
          </a:xfrm>
          <a:prstGeom prst="rect">
            <a:avLst/>
          </a:prstGeom>
          <a:noFill/>
        </p:spPr>
        <p:txBody>
          <a:bodyPr wrap="none">
            <a:spAutoFit/>
          </a:bodyPr>
          <a:lstStyle/>
          <a:p>
            <a:pPr>
              <a:defRPr sz="900">
                <a:solidFill>
                  <a:srgbClr val="64748B"/>
                </a:solidFill>
                <a:latin typeface="Segoe UI"/>
              </a:defRPr>
            </a:pPr>
            <a:r>
              <a:t>Google Antigravity &amp; Claude Code • Internal Tech Sharing • 2026</a:t>
            </a:r>
          </a:p>
        </p:txBody>
      </p:sp>
      <p:sp>
        <p:nvSpPr>
          <p:cNvPr id="6" name="TextBox 5"/>
          <p:cNvSpPr txBox="1"/>
          <p:nvPr/>
        </p:nvSpPr>
        <p:spPr>
          <a:xfrm>
            <a:off x="731520" y="685800"/>
            <a:ext cx="10698480" cy="1005840"/>
          </a:xfrm>
          <a:prstGeom prst="rect">
            <a:avLst/>
          </a:prstGeom>
          <a:noFill/>
        </p:spPr>
        <p:txBody>
          <a:bodyPr wrap="square" lIns="0" tIns="0" rIns="0" bIns="0">
            <a:spAutoFit/>
          </a:bodyPr>
          <a:lstStyle/>
          <a:p>
            <a:pPr>
              <a:defRPr sz="2600" b="1">
                <a:solidFill>
                  <a:srgbClr val="F8FAFC"/>
                </a:solidFill>
                <a:latin typeface="Segoe UI"/>
              </a:defRPr>
            </a:pPr>
            <a:r>
              <a:t>App Settings: Prevent Sleep</a:t>
            </a:r>
          </a:p>
          <a:p>
            <a:pPr>
              <a:spcBef>
                <a:spcPts val="400"/>
              </a:spcBef>
              <a:defRPr sz="1300">
                <a:solidFill>
                  <a:srgbClr val="94A3B8"/>
                </a:solidFill>
                <a:latin typeface="Segoe UI"/>
              </a:defRPr>
            </a:pPr>
            <a:r>
              <a:t>Ngăn hệ thống tự động tắt màn hình và đưa PC vào chế độ ngủ khi AI đang làm việc.</a:t>
            </a:r>
          </a:p>
        </p:txBody>
      </p:sp>
      <p:sp>
        <p:nvSpPr>
          <p:cNvPr id="7" name="Rounded Rectangle 6"/>
          <p:cNvSpPr/>
          <p:nvPr/>
        </p:nvSpPr>
        <p:spPr>
          <a:xfrm>
            <a:off x="731520" y="2011680"/>
            <a:ext cx="5486400" cy="4114800"/>
          </a:xfrm>
          <a:prstGeom prst="roundRect">
            <a:avLst/>
          </a:prstGeom>
          <a:solidFill>
            <a:srgbClr val="131B2E"/>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700" b="1">
                <a:solidFill>
                  <a:srgbClr val="F59E0B"/>
                </a:solidFill>
                <a:latin typeface="Segoe UI"/>
              </a:defRPr>
            </a:pPr>
            <a:r>
              <a:t>⚡ Bản Chất Cơ Chế Prevent Sleep</a:t>
            </a:r>
          </a:p>
          <a:p>
            <a:pPr>
              <a:spcBef>
                <a:spcPts val="1200"/>
              </a:spcBef>
            </a:pPr>
            <a:r>
              <a:rPr b="1" sz="1200">
                <a:solidFill>
                  <a:srgbClr val="F8FAFC"/>
                </a:solidFill>
              </a:rPr>
              <a:t>• Nỗi đau mất kết nối:
</a:t>
            </a:r>
            <a:r>
              <a:rPr sz="1100">
                <a:solidFill>
                  <a:srgbClr val="94A3B8"/>
                </a:solidFill>
              </a:rPr>
              <a:t> Windows/macOS mặc định chuyển sang Sleep sau 5-15 phút không thao tác bàn phím/chuột. Khi đó tiến trình AI bị suspend, kết nối mạng đứt, task dở dang.</a:t>
            </a:r>
          </a:p>
          <a:p>
            <a:pPr>
              <a:spcBef>
                <a:spcPts val="1200"/>
              </a:spcBef>
            </a:pPr>
            <a:r>
              <a:rPr b="1" sz="1200">
                <a:solidFill>
                  <a:srgbClr val="F8FAFC"/>
                </a:solidFill>
              </a:rPr>
              <a:t>• Cơ chế giữ thức thông minh:
</a:t>
            </a:r>
            <a:r>
              <a:rPr sz="1100">
                <a:solidFill>
                  <a:srgbClr val="94A3B8"/>
                </a:solidFill>
              </a:rPr>
              <a:t> Khi Agent bắt đầu thực thi chuỗi prompt dài (viết test, refactor, benchmark), Antigravity tự động kích hoạt API ngăn chặn sleep ở cấp OS kernel.</a:t>
            </a:r>
          </a:p>
          <a:p>
            <a:pPr>
              <a:spcBef>
                <a:spcPts val="1200"/>
              </a:spcBef>
            </a:pPr>
            <a:r>
              <a:rPr b="1" sz="1200">
                <a:solidFill>
                  <a:srgbClr val="F8FAFC"/>
                </a:solidFill>
              </a:rPr>
              <a:t>• Tự động trả lại trạng thái thường:
</a:t>
            </a:r>
            <a:r>
              <a:rPr sz="1100">
                <a:solidFill>
                  <a:srgbClr val="94A3B8"/>
                </a:solidFill>
              </a:rPr>
              <a:t> Ngay khi Agent hoàn tất toàn bộ công việc, hệ thống tự động giải phóng lock để máy tính quay về chế độ tiết kiệm điện bình thường.</a:t>
            </a:r>
          </a:p>
        </p:txBody>
      </p:sp>
      <p:sp>
        <p:nvSpPr>
          <p:cNvPr id="8" name="Rounded Rectangle 7"/>
          <p:cNvSpPr/>
          <p:nvPr/>
        </p:nvSpPr>
        <p:spPr>
          <a:xfrm>
            <a:off x="6492240" y="2011680"/>
            <a:ext cx="4937760" cy="4114800"/>
          </a:xfrm>
          <a:prstGeom prst="roundRect">
            <a:avLst/>
          </a:prstGeom>
          <a:solidFill>
            <a:srgbClr val="050811"/>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38BDF8"/>
                </a:solidFill>
                <a:latin typeface="Consolas"/>
              </a:defRPr>
            </a:pPr>
            <a:r>
              <a:t>SETTINGS &gt; APPLICATION</a:t>
            </a:r>
          </a:p>
          <a:p>
            <a:pPr>
              <a:spcBef>
                <a:spcPts val="800"/>
              </a:spcBef>
              <a:defRPr sz="1500" b="1">
                <a:solidFill>
                  <a:srgbClr val="F8FAFC"/>
                </a:solidFill>
                <a:latin typeface="Segoe UI"/>
              </a:defRPr>
            </a:pPr>
            <a:r>
              <a:t>[UI Preview: System Settings Panel]</a:t>
            </a:r>
          </a:p>
          <a:p>
            <a:pPr>
              <a:spcBef>
                <a:spcPts val="1000"/>
              </a:spcBef>
            </a:pPr>
            <a:r>
              <a:rPr b="1" sz="1150">
                <a:solidFill>
                  <a:srgbClr val="34D399"/>
                </a:solidFill>
                <a:latin typeface="Consolas"/>
              </a:rPr>
              <a:t>[X] Prevent Sleep
</a:t>
            </a:r>
            <a:r>
              <a:rPr sz="1050">
                <a:solidFill>
                  <a:srgbClr val="94A3B8"/>
                </a:solidFill>
                <a:latin typeface="Segoe UI"/>
              </a:rPr>
              <a:t>   Keep PC awake while AI agent generates code</a:t>
            </a:r>
          </a:p>
          <a:p>
            <a:pPr>
              <a:spcBef>
                <a:spcPts val="1000"/>
              </a:spcBef>
            </a:pPr>
            <a:r>
              <a:rPr b="1" sz="1150">
                <a:solidFill>
                  <a:srgbClr val="F59E0B"/>
                </a:solidFill>
                <a:latin typeface="Consolas"/>
              </a:rPr>
              <a:t>    Status: ACTIVE (Agent Working...)
</a:t>
            </a:r>
            <a:r>
              <a:rPr sz="1050">
                <a:solidFill>
                  <a:srgbClr val="94A3B8"/>
                </a:solidFill>
                <a:latin typeface="Segoe UI"/>
              </a:rPr>
              <a:t>   System sleep lock acquired</a:t>
            </a:r>
          </a:p>
          <a:p>
            <a:pPr>
              <a:spcBef>
                <a:spcPts val="1000"/>
              </a:spcBef>
            </a:pPr>
            <a:r>
              <a:rPr b="1" sz="1150">
                <a:solidFill>
                  <a:srgbClr val="34D399"/>
                </a:solidFill>
                <a:latin typeface="Consolas"/>
              </a:rPr>
              <a:t>[X] Keep In Menu Bar
</a:t>
            </a:r>
            <a:r>
              <a:rPr sz="1050">
                <a:solidFill>
                  <a:srgbClr val="94A3B8"/>
                </a:solidFill>
                <a:latin typeface="Segoe UI"/>
              </a:rPr>
              <a:t>   Remain in Windows Taskbar Tray / macOS Menu Bar</a:t>
            </a:r>
          </a:p>
          <a:p>
            <a:pPr>
              <a:spcBef>
                <a:spcPts val="1000"/>
              </a:spcBef>
            </a:pPr>
            <a:r>
              <a:rPr b="1" sz="1150">
                <a:solidFill>
                  <a:srgbClr val="818CF8"/>
                </a:solidFill>
                <a:latin typeface="Consolas"/>
              </a:rPr>
              <a:t>    Close button: MINIMIZE TO TRAY
</a:t>
            </a:r>
            <a:r>
              <a:rPr sz="1050">
                <a:solidFill>
                  <a:srgbClr val="94A3B8"/>
                </a:solidFill>
                <a:latin typeface="Segoe UI"/>
              </a:rPr>
              <a:t>   Never kill background agent accidentally</a:t>
            </a:r>
          </a:p>
          <a:p>
            <a:pPr>
              <a:spcBef>
                <a:spcPts val="1000"/>
              </a:spcBef>
            </a:pPr>
            <a:r>
              <a:rPr b="1" sz="1150">
                <a:solidFill>
                  <a:srgbClr val="818CF8"/>
                </a:solidFill>
                <a:latin typeface="Consolas"/>
              </a:rPr>
              <a:t>[i] Notification Settings
</a:t>
            </a:r>
            <a:r>
              <a:rPr sz="1050">
                <a:solidFill>
                  <a:srgbClr val="94A3B8"/>
                </a:solidFill>
                <a:latin typeface="Segoe UI"/>
              </a:rPr>
              <a:t>   Configured in Windows/macOS System Settings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65760"/>
          </a:xfrm>
          <a:prstGeom prst="rect">
            <a:avLst/>
          </a:prstGeom>
          <a:noFill/>
        </p:spPr>
        <p:txBody>
          <a:bodyPr wrap="square">
            <a:spAutoFit/>
          </a:bodyPr>
          <a:lstStyle/>
          <a:p>
            <a:pPr>
              <a:defRPr sz="1000" b="1">
                <a:solidFill>
                  <a:srgbClr val="818CF8"/>
                </a:solidFill>
                <a:latin typeface="Segoe UI"/>
              </a:defRPr>
            </a:pPr>
            <a:r>
              <a:t>📌 CÀI ĐẶT HỆ THỐNG • THƯỜNG TRỰC &amp; THÔNG BÁO</a:t>
            </a:r>
          </a:p>
        </p:txBody>
      </p:sp>
      <p:sp>
        <p:nvSpPr>
          <p:cNvPr id="4" name="TextBox 3"/>
          <p:cNvSpPr txBox="1"/>
          <p:nvPr/>
        </p:nvSpPr>
        <p:spPr>
          <a:xfrm>
            <a:off x="10058400" y="365760"/>
            <a:ext cx="1371600" cy="365760"/>
          </a:xfrm>
          <a:prstGeom prst="rect">
            <a:avLst/>
          </a:prstGeom>
          <a:noFill/>
        </p:spPr>
        <p:txBody>
          <a:bodyPr wrap="none">
            <a:spAutoFit/>
          </a:bodyPr>
          <a:lstStyle/>
          <a:p>
            <a:pPr algn="r">
              <a:defRPr sz="1100" b="1">
                <a:solidFill>
                  <a:srgbClr val="38BDF8"/>
                </a:solidFill>
                <a:latin typeface="Consolas"/>
              </a:defRPr>
            </a:pPr>
            <a:r>
              <a:t>05 / 08</a:t>
            </a:r>
          </a:p>
        </p:txBody>
      </p:sp>
      <p:sp>
        <p:nvSpPr>
          <p:cNvPr id="5" name="TextBox 4"/>
          <p:cNvSpPr txBox="1"/>
          <p:nvPr/>
        </p:nvSpPr>
        <p:spPr>
          <a:xfrm>
            <a:off x="731520" y="6446520"/>
            <a:ext cx="10698480" cy="274320"/>
          </a:xfrm>
          <a:prstGeom prst="rect">
            <a:avLst/>
          </a:prstGeom>
          <a:noFill/>
        </p:spPr>
        <p:txBody>
          <a:bodyPr wrap="none">
            <a:spAutoFit/>
          </a:bodyPr>
          <a:lstStyle/>
          <a:p>
            <a:pPr>
              <a:defRPr sz="900">
                <a:solidFill>
                  <a:srgbClr val="64748B"/>
                </a:solidFill>
                <a:latin typeface="Segoe UI"/>
              </a:defRPr>
            </a:pPr>
            <a:r>
              <a:t>Google Antigravity &amp; Claude Code • Internal Tech Sharing • 2026</a:t>
            </a:r>
          </a:p>
        </p:txBody>
      </p:sp>
      <p:sp>
        <p:nvSpPr>
          <p:cNvPr id="6" name="TextBox 5"/>
          <p:cNvSpPr txBox="1"/>
          <p:nvPr/>
        </p:nvSpPr>
        <p:spPr>
          <a:xfrm>
            <a:off x="731520" y="685800"/>
            <a:ext cx="10698480" cy="1005840"/>
          </a:xfrm>
          <a:prstGeom prst="rect">
            <a:avLst/>
          </a:prstGeom>
          <a:noFill/>
        </p:spPr>
        <p:txBody>
          <a:bodyPr wrap="square" lIns="0" tIns="0" rIns="0" bIns="0">
            <a:spAutoFit/>
          </a:bodyPr>
          <a:lstStyle/>
          <a:p>
            <a:pPr>
              <a:defRPr sz="2600" b="1">
                <a:solidFill>
                  <a:srgbClr val="F8FAFC"/>
                </a:solidFill>
                <a:latin typeface="Segoe UI"/>
              </a:defRPr>
            </a:pPr>
            <a:r>
              <a:t>Keep In Menu Bar &amp; Notification Settings</a:t>
            </a:r>
          </a:p>
          <a:p>
            <a:pPr>
              <a:spcBef>
                <a:spcPts val="400"/>
              </a:spcBef>
              <a:defRPr sz="1300">
                <a:solidFill>
                  <a:srgbClr val="94A3B8"/>
                </a:solidFill>
                <a:latin typeface="Segoe UI"/>
              </a:defRPr>
            </a:pPr>
            <a:r>
              <a:t>Đảm bảo ứng dụng luôn thường trực tức thì và không bỏ lỡ thông báo quan trọng.</a:t>
            </a:r>
          </a:p>
        </p:txBody>
      </p:sp>
      <p:sp>
        <p:nvSpPr>
          <p:cNvPr id="7" name="Rounded Rectangle 6"/>
          <p:cNvSpPr/>
          <p:nvPr/>
        </p:nvSpPr>
        <p:spPr>
          <a:xfrm>
            <a:off x="731520" y="2011680"/>
            <a:ext cx="5212080" cy="4114800"/>
          </a:xfrm>
          <a:prstGeom prst="roundRect">
            <a:avLst/>
          </a:prstGeom>
          <a:solidFill>
            <a:srgbClr val="131B2E"/>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700" b="1">
                <a:solidFill>
                  <a:srgbClr val="818CF8"/>
                </a:solidFill>
                <a:latin typeface="Segoe UI"/>
              </a:defRPr>
            </a:pPr>
            <a:r>
              <a:t>📌 Keep In Menu Bar (Taskbar Tray)</a:t>
            </a:r>
          </a:p>
          <a:p>
            <a:pPr>
              <a:spcBef>
                <a:spcPts val="1200"/>
              </a:spcBef>
            </a:pPr>
            <a:r>
              <a:rPr b="1" sz="1200">
                <a:solidFill>
                  <a:srgbClr val="F8FAFC"/>
                </a:solidFill>
              </a:rPr>
              <a:t>✔ Thói quen bấm 'X' tai hại:
</a:t>
            </a:r>
            <a:r>
              <a:rPr sz="1100">
                <a:solidFill>
                  <a:srgbClr val="94A3B8"/>
                </a:solidFill>
              </a:rPr>
              <a:t> Đóng cửa sổ không làm tắt ứng dụng mà chỉ ẩn xuống Tray hệ thống.</a:t>
            </a:r>
          </a:p>
          <a:p>
            <a:pPr>
              <a:spcBef>
                <a:spcPts val="1200"/>
              </a:spcBef>
            </a:pPr>
            <a:r>
              <a:rPr b="1" sz="1200">
                <a:solidFill>
                  <a:srgbClr val="F8FAFC"/>
                </a:solidFill>
              </a:rPr>
              <a:t>✔ Thường trực sẵn sàng:
</a:t>
            </a:r>
            <a:r>
              <a:rPr sz="1100">
                <a:solidFill>
                  <a:srgbClr val="94A3B8"/>
                </a:solidFill>
              </a:rPr>
              <a:t> Antigravity luôn chạy nền, có thể gọi lên (summon) tức thì bằng phím tắt hoặc 1 click chuột.</a:t>
            </a:r>
          </a:p>
          <a:p>
            <a:pPr>
              <a:spcBef>
                <a:spcPts val="1200"/>
              </a:spcBef>
            </a:pPr>
            <a:r>
              <a:rPr b="1" sz="1200">
                <a:solidFill>
                  <a:srgbClr val="F8FAFC"/>
                </a:solidFill>
              </a:rPr>
              <a:t>✔ Không mất Context:
</a:t>
            </a:r>
            <a:r>
              <a:rPr sz="1100">
                <a:solidFill>
                  <a:srgbClr val="94A3B8"/>
                </a:solidFill>
              </a:rPr>
              <a:t> Giữ nguyên trạng thái agent, lịch sử terminal và các tab công việc đang mở.</a:t>
            </a:r>
          </a:p>
          <a:p>
            <a:pPr>
              <a:spcBef>
                <a:spcPts val="1200"/>
              </a:spcBef>
            </a:pPr>
            <a:r>
              <a:rPr b="1" sz="1200">
                <a:solidFill>
                  <a:srgbClr val="F8FAFC"/>
                </a:solidFill>
              </a:rPr>
              <a:t>✔ Tối ưu RAM/CPU:
</a:t>
            </a:r>
            <a:r>
              <a:rPr sz="1100">
                <a:solidFill>
                  <a:srgbClr val="94A3B8"/>
                </a:solidFill>
              </a:rPr>
              <a:t> Ứng dụng đưa về trạng thái tối giản khi ẩn ở khay hệ thống.</a:t>
            </a:r>
          </a:p>
        </p:txBody>
      </p:sp>
      <p:sp>
        <p:nvSpPr>
          <p:cNvPr id="8" name="Rounded Rectangle 7"/>
          <p:cNvSpPr/>
          <p:nvPr/>
        </p:nvSpPr>
        <p:spPr>
          <a:xfrm>
            <a:off x="6217920" y="2011680"/>
            <a:ext cx="5212080" cy="4114800"/>
          </a:xfrm>
          <a:prstGeom prst="roundRect">
            <a:avLst/>
          </a:prstGeom>
          <a:solidFill>
            <a:srgbClr val="131B2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700" b="1">
                <a:solidFill>
                  <a:srgbClr val="38BDF8"/>
                </a:solidFill>
                <a:latin typeface="Segoe UI"/>
              </a:defRPr>
            </a:pPr>
            <a:r>
              <a:t>🔔 Quản Lý Thông Báo (OS-Level)</a:t>
            </a:r>
          </a:p>
          <a:p>
            <a:pPr>
              <a:spcBef>
                <a:spcPts val="1200"/>
              </a:spcBef>
            </a:pPr>
            <a:r>
              <a:rPr b="1" sz="1200">
                <a:solidFill>
                  <a:srgbClr val="F8FAFC"/>
                </a:solidFill>
              </a:rPr>
              <a:t>✔ Lưu ý kiến trúc cốt lõi:
</a:t>
            </a:r>
            <a:r>
              <a:rPr sz="1100">
                <a:solidFill>
                  <a:srgbClr val="94A3B8"/>
                </a:solidFill>
              </a:rPr>
              <a:t> Antigravity không chứa công tắc bật/tắt thông báo trong app mà đẩy về quản lý tập trung ở Hệ điều hành.</a:t>
            </a:r>
          </a:p>
          <a:p>
            <a:pPr>
              <a:spcBef>
                <a:spcPts val="1200"/>
              </a:spcBef>
            </a:pPr>
            <a:r>
              <a:rPr b="1" sz="1200">
                <a:solidFill>
                  <a:srgbClr val="F8FAFC"/>
                </a:solidFill>
              </a:rPr>
              <a:t>✔ Cấu hình trên Windows:
</a:t>
            </a:r>
            <a:r>
              <a:rPr sz="1100">
                <a:solidFill>
                  <a:srgbClr val="94A3B8"/>
                </a:solidFill>
              </a:rPr>
              <a:t> Start &gt; Settings &gt; System &gt; Notifications &gt; Bật quyền cho Antigravity.</a:t>
            </a:r>
          </a:p>
          <a:p>
            <a:pPr>
              <a:spcBef>
                <a:spcPts val="1200"/>
              </a:spcBef>
            </a:pPr>
            <a:r>
              <a:rPr b="1" sz="1200">
                <a:solidFill>
                  <a:srgbClr val="F8FAFC"/>
                </a:solidFill>
              </a:rPr>
              <a:t>✔ Cấu hình trên macOS:
</a:t>
            </a:r>
            <a:r>
              <a:rPr sz="1100">
                <a:solidFill>
                  <a:srgbClr val="94A3B8"/>
                </a:solidFill>
              </a:rPr>
              <a:t> System Settings &gt; Notifications &gt; Antigravity &gt; Allow Notifications.</a:t>
            </a:r>
          </a:p>
          <a:p>
            <a:pPr>
              <a:spcBef>
                <a:spcPts val="1200"/>
              </a:spcBef>
            </a:pPr>
            <a:r>
              <a:rPr b="1" sz="1200">
                <a:solidFill>
                  <a:srgbClr val="F8FAFC"/>
                </a:solidFill>
              </a:rPr>
              <a:t>✔ Nhận báo cáo tức thì:
</a:t>
            </a:r>
            <a:r>
              <a:rPr sz="1100">
                <a:solidFill>
                  <a:srgbClr val="94A3B8"/>
                </a:solidFill>
              </a:rPr>
              <a:t> Được ping thông báo ngay khi Agent hoàn thành task lớn hoặc khi cần người dùng bấm xác nhận.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65760"/>
          </a:xfrm>
          <a:prstGeom prst="rect">
            <a:avLst/>
          </a:prstGeom>
          <a:noFill/>
        </p:spPr>
        <p:txBody>
          <a:bodyPr wrap="square">
            <a:spAutoFit/>
          </a:bodyPr>
          <a:lstStyle/>
          <a:p>
            <a:pPr>
              <a:defRPr sz="1000" b="1">
                <a:solidFill>
                  <a:srgbClr val="818CF8"/>
                </a:solidFill>
                <a:latin typeface="Segoe UI"/>
              </a:defRPr>
            </a:pPr>
            <a:r>
              <a:t>💡 MỞ RỘNG ĐỘT PHÁ • CLAUDE CODE &amp; LOCAL LLM</a:t>
            </a:r>
          </a:p>
        </p:txBody>
      </p:sp>
      <p:sp>
        <p:nvSpPr>
          <p:cNvPr id="4" name="TextBox 3"/>
          <p:cNvSpPr txBox="1"/>
          <p:nvPr/>
        </p:nvSpPr>
        <p:spPr>
          <a:xfrm>
            <a:off x="10058400" y="365760"/>
            <a:ext cx="1371600" cy="365760"/>
          </a:xfrm>
          <a:prstGeom prst="rect">
            <a:avLst/>
          </a:prstGeom>
          <a:noFill/>
        </p:spPr>
        <p:txBody>
          <a:bodyPr wrap="none">
            <a:spAutoFit/>
          </a:bodyPr>
          <a:lstStyle/>
          <a:p>
            <a:pPr algn="r">
              <a:defRPr sz="1100" b="1">
                <a:solidFill>
                  <a:srgbClr val="38BDF8"/>
                </a:solidFill>
                <a:latin typeface="Consolas"/>
              </a:defRPr>
            </a:pPr>
            <a:r>
              <a:t>06 / 08</a:t>
            </a:r>
          </a:p>
        </p:txBody>
      </p:sp>
      <p:sp>
        <p:nvSpPr>
          <p:cNvPr id="5" name="TextBox 4"/>
          <p:cNvSpPr txBox="1"/>
          <p:nvPr/>
        </p:nvSpPr>
        <p:spPr>
          <a:xfrm>
            <a:off x="731520" y="6446520"/>
            <a:ext cx="10698480" cy="274320"/>
          </a:xfrm>
          <a:prstGeom prst="rect">
            <a:avLst/>
          </a:prstGeom>
          <a:noFill/>
        </p:spPr>
        <p:txBody>
          <a:bodyPr wrap="none">
            <a:spAutoFit/>
          </a:bodyPr>
          <a:lstStyle/>
          <a:p>
            <a:pPr>
              <a:defRPr sz="900">
                <a:solidFill>
                  <a:srgbClr val="64748B"/>
                </a:solidFill>
                <a:latin typeface="Segoe UI"/>
              </a:defRPr>
            </a:pPr>
            <a:r>
              <a:t>Google Antigravity &amp; Claude Code • Internal Tech Sharing • 2026</a:t>
            </a:r>
          </a:p>
        </p:txBody>
      </p:sp>
      <p:sp>
        <p:nvSpPr>
          <p:cNvPr id="6" name="TextBox 5"/>
          <p:cNvSpPr txBox="1"/>
          <p:nvPr/>
        </p:nvSpPr>
        <p:spPr>
          <a:xfrm>
            <a:off x="731520" y="685800"/>
            <a:ext cx="10698480" cy="1005840"/>
          </a:xfrm>
          <a:prstGeom prst="rect">
            <a:avLst/>
          </a:prstGeom>
          <a:noFill/>
        </p:spPr>
        <p:txBody>
          <a:bodyPr wrap="square" lIns="0" tIns="0" rIns="0" bIns="0">
            <a:spAutoFit/>
          </a:bodyPr>
          <a:lstStyle/>
          <a:p>
            <a:pPr>
              <a:defRPr sz="2600" b="1">
                <a:solidFill>
                  <a:srgbClr val="F8FAFC"/>
                </a:solidFill>
                <a:latin typeface="Segoe UI"/>
              </a:defRPr>
            </a:pPr>
            <a:r>
              <a:t>Tại Sao Cần Đưa Model Bên Thứ 3 Vào Claude Code?</a:t>
            </a:r>
          </a:p>
          <a:p>
            <a:pPr>
              <a:spcBef>
                <a:spcPts val="400"/>
              </a:spcBef>
              <a:defRPr sz="1300">
                <a:solidFill>
                  <a:srgbClr val="94A3B8"/>
                </a:solidFill>
                <a:latin typeface="Segoe UI"/>
              </a:defRPr>
            </a:pPr>
            <a:r>
              <a:t>Kết hợp trí tuệ mã nguồn mở với framework CLI Agentic số 1 hiện nay.</a:t>
            </a:r>
          </a:p>
        </p:txBody>
      </p:sp>
      <p:sp>
        <p:nvSpPr>
          <p:cNvPr id="7" name="Rounded Rectangle 6"/>
          <p:cNvSpPr/>
          <p:nvPr/>
        </p:nvSpPr>
        <p:spPr>
          <a:xfrm>
            <a:off x="731520" y="2011680"/>
            <a:ext cx="3383280" cy="4114800"/>
          </a:xfrm>
          <a:prstGeom prst="roundRect">
            <a:avLst/>
          </a:prstGeom>
          <a:solidFill>
            <a:srgbClr val="131B2E"/>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F43F5E"/>
                </a:solidFill>
                <a:latin typeface="Segoe UI"/>
              </a:defRPr>
            </a:pPr>
            <a:r>
              <a:t>TRỤ CỘT 1</a:t>
            </a:r>
          </a:p>
          <a:p>
            <a:pPr>
              <a:spcBef>
                <a:spcPts val="400"/>
              </a:spcBef>
              <a:defRPr sz="1600" b="1">
                <a:solidFill>
                  <a:srgbClr val="F8FAFC"/>
                </a:solidFill>
                <a:latin typeface="Segoe UI"/>
              </a:defRPr>
            </a:pPr>
            <a:r>
              <a:t>🔒 Bảo Mật &amp; Air-Gapped</a:t>
            </a:r>
          </a:p>
          <a:p>
            <a:pPr>
              <a:spcBef>
                <a:spcPts val="1000"/>
              </a:spcBef>
            </a:pPr>
            <a:r>
              <a:rPr b="1" sz="1100">
                <a:solidFill>
                  <a:srgbClr val="F8FAFC"/>
                </a:solidFill>
              </a:rPr>
              <a:t>• Mã nguồn dự án mật:
</a:t>
            </a:r>
            <a:r>
              <a:rPr sz="1050">
                <a:solidFill>
                  <a:srgbClr val="94A3B8"/>
                </a:solidFill>
              </a:rPr>
              <a:t> NDA và bảo mật khách hàng cấm tuyệt đối gửi code lên cloud.</a:t>
            </a:r>
          </a:p>
          <a:p>
            <a:pPr>
              <a:spcBef>
                <a:spcPts val="1000"/>
              </a:spcBef>
            </a:pPr>
            <a:r>
              <a:rPr b="1" sz="1100">
                <a:solidFill>
                  <a:srgbClr val="F8FAFC"/>
                </a:solidFill>
              </a:rPr>
              <a:t>• Chạy 100% Offline:
</a:t>
            </a:r>
            <a:r>
              <a:rPr sz="1050">
                <a:solidFill>
                  <a:srgbClr val="94A3B8"/>
                </a:solidFill>
              </a:rPr>
              <a:t> Toàn bộ suy luận xử lý ngay trên GPU máy trạm của công ty.</a:t>
            </a:r>
          </a:p>
          <a:p>
            <a:pPr>
              <a:spcBef>
                <a:spcPts val="1000"/>
              </a:spcBef>
            </a:pPr>
            <a:r>
              <a:rPr b="1" sz="1100">
                <a:solidFill>
                  <a:srgbClr val="F8FAFC"/>
                </a:solidFill>
              </a:rPr>
              <a:t>• Không lưu vết:
</a:t>
            </a:r>
            <a:r>
              <a:rPr sz="1050">
                <a:solidFill>
                  <a:srgbClr val="94A3B8"/>
                </a:solidFill>
              </a:rPr>
              <a:t> Không có dữ liệu nào bị dùng để train lại model của bên thứ ba.</a:t>
            </a:r>
          </a:p>
        </p:txBody>
      </p:sp>
      <p:sp>
        <p:nvSpPr>
          <p:cNvPr id="8" name="Rounded Rectangle 7"/>
          <p:cNvSpPr/>
          <p:nvPr/>
        </p:nvSpPr>
        <p:spPr>
          <a:xfrm>
            <a:off x="4389120" y="2011680"/>
            <a:ext cx="3383280" cy="4114800"/>
          </a:xfrm>
          <a:prstGeom prst="roundRect">
            <a:avLst/>
          </a:prstGeom>
          <a:solidFill>
            <a:srgbClr val="131B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34D399"/>
                </a:solidFill>
                <a:latin typeface="Segoe UI"/>
              </a:defRPr>
            </a:pPr>
            <a:r>
              <a:t>TRỤ CỘT 2</a:t>
            </a:r>
          </a:p>
          <a:p>
            <a:pPr>
              <a:spcBef>
                <a:spcPts val="400"/>
              </a:spcBef>
              <a:defRPr sz="1600" b="1">
                <a:solidFill>
                  <a:srgbClr val="F8FAFC"/>
                </a:solidFill>
                <a:latin typeface="Segoe UI"/>
              </a:defRPr>
            </a:pPr>
            <a:r>
              <a:t>💰 Tiết Kiệm 100% Phí API</a:t>
            </a:r>
          </a:p>
          <a:p>
            <a:pPr>
              <a:spcBef>
                <a:spcPts val="1000"/>
              </a:spcBef>
            </a:pPr>
            <a:r>
              <a:rPr b="1" sz="1100">
                <a:solidFill>
                  <a:srgbClr val="F8FAFC"/>
                </a:solidFill>
              </a:rPr>
              <a:t>• Chi phí token đắt đỏ:
</a:t>
            </a:r>
            <a:r>
              <a:rPr sz="1050">
                <a:solidFill>
                  <a:srgbClr val="94A3B8"/>
                </a:solidFill>
              </a:rPr>
              <a:t> Claude 3.5 Sonnet / Opus ngốn ngân sách khi debug lặp lại nhiều lần.</a:t>
            </a:r>
          </a:p>
          <a:p>
            <a:pPr>
              <a:spcBef>
                <a:spcPts val="1000"/>
              </a:spcBef>
            </a:pPr>
            <a:r>
              <a:rPr b="1" sz="1100">
                <a:solidFill>
                  <a:srgbClr val="F8FAFC"/>
                </a:solidFill>
              </a:rPr>
              <a:t>• Zero Cost với Ollama:
</a:t>
            </a:r>
            <a:r>
              <a:rPr sz="1050">
                <a:solidFill>
                  <a:srgbClr val="94A3B8"/>
                </a:solidFill>
              </a:rPr>
              <a:t> Tận dụng model mã nguồn mở như Qwen 2.5 Coder, DeepSeek-R1, Llama 3.</a:t>
            </a:r>
          </a:p>
          <a:p>
            <a:pPr>
              <a:spcBef>
                <a:spcPts val="1000"/>
              </a:spcBef>
            </a:pPr>
            <a:r>
              <a:rPr b="1" sz="1100">
                <a:solidFill>
                  <a:srgbClr val="F8FAFC"/>
                </a:solidFill>
              </a:rPr>
              <a:t>• Không lo Rate Limit:
</a:t>
            </a:r>
            <a:r>
              <a:rPr sz="1050">
                <a:solidFill>
                  <a:srgbClr val="94A3B8"/>
                </a:solidFill>
              </a:rPr>
              <a:t> Không bị giới hạn số lượt request mỗi phút (TPM / RPM).</a:t>
            </a:r>
          </a:p>
        </p:txBody>
      </p:sp>
      <p:sp>
        <p:nvSpPr>
          <p:cNvPr id="9" name="Rounded Rectangle 8"/>
          <p:cNvSpPr/>
          <p:nvPr/>
        </p:nvSpPr>
        <p:spPr>
          <a:xfrm>
            <a:off x="8046720" y="2011680"/>
            <a:ext cx="3383280" cy="4114800"/>
          </a:xfrm>
          <a:prstGeom prst="roundRect">
            <a:avLst/>
          </a:prstGeom>
          <a:solidFill>
            <a:srgbClr val="131B2E"/>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38BDF8"/>
                </a:solidFill>
                <a:latin typeface="Segoe UI"/>
              </a:defRPr>
            </a:pPr>
            <a:r>
              <a:t>TRỤ CỘT 3</a:t>
            </a:r>
          </a:p>
          <a:p>
            <a:pPr>
              <a:spcBef>
                <a:spcPts val="400"/>
              </a:spcBef>
              <a:defRPr sz="1600" b="1">
                <a:solidFill>
                  <a:srgbClr val="F8FAFC"/>
                </a:solidFill>
                <a:latin typeface="Segoe UI"/>
              </a:defRPr>
            </a:pPr>
            <a:r>
              <a:t>⚡ Giữ Trọn Workflow Agent</a:t>
            </a:r>
          </a:p>
          <a:p>
            <a:pPr>
              <a:spcBef>
                <a:spcPts val="1000"/>
              </a:spcBef>
            </a:pPr>
            <a:r>
              <a:rPr b="1" sz="1100">
                <a:solidFill>
                  <a:srgbClr val="F8FAFC"/>
                </a:solidFill>
              </a:rPr>
              <a:t>• Vỏ Claude Code Agentic:
</a:t>
            </a:r>
            <a:r>
              <a:rPr sz="1050">
                <a:solidFill>
                  <a:srgbClr val="94A3B8"/>
                </a:solidFill>
              </a:rPr>
              <a:t> Tận dụng toàn bộ khả năng đọc file, ghi code, chạy bash test cực chuẩn.</a:t>
            </a:r>
          </a:p>
          <a:p>
            <a:pPr>
              <a:spcBef>
                <a:spcPts val="1000"/>
              </a:spcBef>
            </a:pPr>
            <a:r>
              <a:rPr b="1" sz="1100">
                <a:solidFill>
                  <a:srgbClr val="F8FAFC"/>
                </a:solidFill>
              </a:rPr>
              <a:t>• Đa dạng hóa Model:
</a:t>
            </a:r>
            <a:r>
              <a:rPr sz="1050">
                <a:solidFill>
                  <a:srgbClr val="94A3B8"/>
                </a:solidFill>
              </a:rPr>
              <a:t> Thích model nào thì kéo model đó về (`ollama pull qwen2.5-coder`).</a:t>
            </a:r>
          </a:p>
          <a:p>
            <a:pPr>
              <a:spcBef>
                <a:spcPts val="1000"/>
              </a:spcBef>
            </a:pPr>
            <a:r>
              <a:rPr b="1" sz="1100">
                <a:solidFill>
                  <a:srgbClr val="F8FAFC"/>
                </a:solidFill>
              </a:rPr>
              <a:t>• Tự chủ công nghệ:
</a:t>
            </a:r>
            <a:r>
              <a:rPr sz="1050">
                <a:solidFill>
                  <a:srgbClr val="94A3B8"/>
                </a:solidFill>
              </a:rPr>
              <a:t> Không phụ thuộc vào sự cố gián đoạn dịch vụ của nhà cung cấp Cloud.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65760"/>
          </a:xfrm>
          <a:prstGeom prst="rect">
            <a:avLst/>
          </a:prstGeom>
          <a:noFill/>
        </p:spPr>
        <p:txBody>
          <a:bodyPr wrap="square">
            <a:spAutoFit/>
          </a:bodyPr>
          <a:lstStyle/>
          <a:p>
            <a:pPr>
              <a:defRPr sz="1000" b="1">
                <a:solidFill>
                  <a:srgbClr val="818CF8"/>
                </a:solidFill>
                <a:latin typeface="Segoe UI"/>
              </a:defRPr>
            </a:pPr>
            <a:r>
              <a:t>🛠️ THỰC CHIẾN TÍCH HỢP • NATIVE ANTHROPIC API BRIDGE</a:t>
            </a:r>
          </a:p>
        </p:txBody>
      </p:sp>
      <p:sp>
        <p:nvSpPr>
          <p:cNvPr id="4" name="TextBox 3"/>
          <p:cNvSpPr txBox="1"/>
          <p:nvPr/>
        </p:nvSpPr>
        <p:spPr>
          <a:xfrm>
            <a:off x="10058400" y="365760"/>
            <a:ext cx="1371600" cy="365760"/>
          </a:xfrm>
          <a:prstGeom prst="rect">
            <a:avLst/>
          </a:prstGeom>
          <a:noFill/>
        </p:spPr>
        <p:txBody>
          <a:bodyPr wrap="none">
            <a:spAutoFit/>
          </a:bodyPr>
          <a:lstStyle/>
          <a:p>
            <a:pPr algn="r">
              <a:defRPr sz="1100" b="1">
                <a:solidFill>
                  <a:srgbClr val="38BDF8"/>
                </a:solidFill>
                <a:latin typeface="Consolas"/>
              </a:defRPr>
            </a:pPr>
            <a:r>
              <a:t>07 / 08</a:t>
            </a:r>
          </a:p>
        </p:txBody>
      </p:sp>
      <p:sp>
        <p:nvSpPr>
          <p:cNvPr id="5" name="TextBox 4"/>
          <p:cNvSpPr txBox="1"/>
          <p:nvPr/>
        </p:nvSpPr>
        <p:spPr>
          <a:xfrm>
            <a:off x="731520" y="6446520"/>
            <a:ext cx="10698480" cy="274320"/>
          </a:xfrm>
          <a:prstGeom prst="rect">
            <a:avLst/>
          </a:prstGeom>
          <a:noFill/>
        </p:spPr>
        <p:txBody>
          <a:bodyPr wrap="none">
            <a:spAutoFit/>
          </a:bodyPr>
          <a:lstStyle/>
          <a:p>
            <a:pPr>
              <a:defRPr sz="900">
                <a:solidFill>
                  <a:srgbClr val="64748B"/>
                </a:solidFill>
                <a:latin typeface="Segoe UI"/>
              </a:defRPr>
            </a:pPr>
            <a:r>
              <a:t>Google Antigravity &amp; Claude Code • Internal Tech Sharing • 2026</a:t>
            </a:r>
          </a:p>
        </p:txBody>
      </p:sp>
      <p:sp>
        <p:nvSpPr>
          <p:cNvPr id="6" name="TextBox 5"/>
          <p:cNvSpPr txBox="1"/>
          <p:nvPr/>
        </p:nvSpPr>
        <p:spPr>
          <a:xfrm>
            <a:off x="731520" y="685800"/>
            <a:ext cx="10698480" cy="1005840"/>
          </a:xfrm>
          <a:prstGeom prst="rect">
            <a:avLst/>
          </a:prstGeom>
          <a:noFill/>
        </p:spPr>
        <p:txBody>
          <a:bodyPr wrap="square" lIns="0" tIns="0" rIns="0" bIns="0">
            <a:spAutoFit/>
          </a:bodyPr>
          <a:lstStyle/>
          <a:p>
            <a:pPr>
              <a:defRPr sz="2600" b="1">
                <a:solidFill>
                  <a:srgbClr val="F8FAFC"/>
                </a:solidFill>
                <a:latin typeface="Segoe UI"/>
              </a:defRPr>
            </a:pPr>
            <a:r>
              <a:t>Cách Tích Hợp Model Vào Claude Code</a:t>
            </a:r>
          </a:p>
          <a:p>
            <a:pPr>
              <a:spcBef>
                <a:spcPts val="400"/>
              </a:spcBef>
              <a:defRPr sz="1300">
                <a:solidFill>
                  <a:srgbClr val="94A3B8"/>
                </a:solidFill>
                <a:latin typeface="Segoe UI"/>
              </a:defRPr>
            </a:pPr>
            <a:r>
              <a:t>Cấu hình ghép nối Ollama với Claude Code qua 2 phương pháp đơn giản.</a:t>
            </a:r>
          </a:p>
        </p:txBody>
      </p:sp>
      <p:sp>
        <p:nvSpPr>
          <p:cNvPr id="7" name="Rounded Rectangle 6"/>
          <p:cNvSpPr/>
          <p:nvPr/>
        </p:nvSpPr>
        <p:spPr>
          <a:xfrm>
            <a:off x="731520" y="2011680"/>
            <a:ext cx="5212080" cy="4114800"/>
          </a:xfrm>
          <a:prstGeom prst="roundRect">
            <a:avLst/>
          </a:prstGeom>
          <a:solidFill>
            <a:srgbClr val="050811"/>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34D399"/>
                </a:solidFill>
                <a:latin typeface="Consolas"/>
              </a:defRPr>
            </a:pPr>
            <a:r>
              <a:t>CÁCH 1: OLLAMA LAUNCH (1 DÒNG DUY NHẤT)</a:t>
            </a:r>
          </a:p>
          <a:p>
            <a:pPr>
              <a:spcBef>
                <a:spcPts val="800"/>
              </a:spcBef>
              <a:defRPr sz="1100">
                <a:solidFill>
                  <a:srgbClr val="38BDF8"/>
                </a:solidFill>
                <a:latin typeface="Consolas"/>
              </a:defRPr>
            </a:pPr>
            <a:r>
              <a:t># Khởi chạy nhanh với model mặc định:</a:t>
            </a:r>
            <a:br/>
            <a:r>
              <a:t>$ ollama launch claude</a:t>
            </a:r>
            <a:br/>
            <a:br/>
            <a:r>
              <a:t># Chỉ định model coding chuyên sâu:</a:t>
            </a:r>
            <a:br/>
            <a:r>
              <a:t>$ ollama launch claude --model qwen2.5-coder</a:t>
            </a:r>
            <a:br/>
            <a:br/>
            <a:r>
              <a:t># Chạy tự động trong CI/CD không hỏi prompt:</a:t>
            </a:r>
            <a:br/>
            <a:r>
              <a:t>$ ollama launch claude --model qwen2.5-coder --yes</a:t>
            </a:r>
          </a:p>
          <a:p>
            <a:pPr>
              <a:spcBef>
                <a:spcPts val="1000"/>
              </a:spcBef>
              <a:defRPr sz="1100">
                <a:solidFill>
                  <a:srgbClr val="94A3B8"/>
                </a:solidFill>
                <a:latin typeface="Segoe UI"/>
              </a:defRPr>
            </a:pPr>
            <a:r>
              <a:t>💡 Ưu điểm vượt trội:</a:t>
            </a:r>
            <a:br/>
            <a:r>
              <a:t>• Ollama tự động thiết lập cầu nối Anthropic Messages API.</a:t>
            </a:r>
            <a:br/>
            <a:r>
              <a:t>• Tự động tải model nếu chưa có sẵn trong máy.</a:t>
            </a:r>
            <a:br/>
            <a:r>
              <a:t>• Sẵn sàng làm việc chỉ sau vài giây.</a:t>
            </a:r>
          </a:p>
        </p:txBody>
      </p:sp>
      <p:sp>
        <p:nvSpPr>
          <p:cNvPr id="8" name="Rounded Rectangle 7"/>
          <p:cNvSpPr/>
          <p:nvPr/>
        </p:nvSpPr>
        <p:spPr>
          <a:xfrm>
            <a:off x="6217920" y="2011680"/>
            <a:ext cx="5212080" cy="4114800"/>
          </a:xfrm>
          <a:prstGeom prst="roundRect">
            <a:avLst/>
          </a:prstGeom>
          <a:solidFill>
            <a:srgbClr val="050811"/>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818CF8"/>
                </a:solidFill>
                <a:latin typeface="Consolas"/>
              </a:defRPr>
            </a:pPr>
            <a:r>
              <a:t>CÁCH 2: CẤU HÌNH BIẾN MÔI TRƯỜNG (ENV VARS)</a:t>
            </a:r>
          </a:p>
          <a:p>
            <a:pPr>
              <a:spcBef>
                <a:spcPts val="800"/>
              </a:spcBef>
              <a:defRPr sz="1050">
                <a:solidFill>
                  <a:srgbClr val="818CF8"/>
                </a:solidFill>
                <a:latin typeface="Consolas"/>
              </a:defRPr>
            </a:pPr>
            <a:r>
              <a:t># Thiết lập trên Linux / macOS (~/.zshrc hoặc ~/.bashrc):</a:t>
            </a:r>
            <a:br/>
            <a:r>
              <a:t>export ANTHROPIC_AUTH_TOKEN=ollama</a:t>
            </a:r>
            <a:br/>
            <a:r>
              <a:t>export ANTHROPIC_BASE_URL=http://localhost:11434</a:t>
            </a:r>
            <a:br/>
            <a:br/>
            <a:r>
              <a:t># Khởi chạy Claude Code trỏ thẳng vào Ollama:</a:t>
            </a:r>
            <a:br/>
            <a:r>
              <a:t>claude --model qwen2.5-coder</a:t>
            </a:r>
            <a:br/>
            <a:br/>
            <a:r>
              <a:t># Trên Windows PowerShell:</a:t>
            </a:r>
            <a:br/>
            <a:r>
              <a:t>$env:ANTHROPIC_AUTH_TOKEN="ollama"</a:t>
            </a:r>
            <a:br/>
            <a:r>
              <a:t>$env:ANTHROPIC_BASE_URL="http://localhost:11434"</a:t>
            </a:r>
          </a:p>
          <a:p>
            <a:pPr>
              <a:spcBef>
                <a:spcPts val="1000"/>
              </a:spcBef>
              <a:defRPr sz="1100">
                <a:solidFill>
                  <a:srgbClr val="94A3B8"/>
                </a:solidFill>
                <a:latin typeface="Segoe UI"/>
              </a:defRPr>
            </a:pPr>
            <a:r>
              <a:t>💡 Tính năng hỗ trợ toàn diện:</a:t>
            </a:r>
            <a:br/>
            <a:r>
              <a:t>• Tool calling: Tự động chạy lệnh shell, đọc &amp; sửa file.</a:t>
            </a:r>
            <a:br/>
            <a:r>
              <a:t>• Subagents: Chia việc cho các agent con chạy song song.</a:t>
            </a:r>
            <a:br/>
            <a:r>
              <a:t>• /loop schedule: Chạy tác vụ lặp định kỳ (vd: kiểm tra PR).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65760"/>
          </a:xfrm>
          <a:prstGeom prst="rect">
            <a:avLst/>
          </a:prstGeom>
          <a:noFill/>
        </p:spPr>
        <p:txBody>
          <a:bodyPr wrap="square">
            <a:spAutoFit/>
          </a:bodyPr>
          <a:lstStyle/>
          <a:p>
            <a:pPr>
              <a:defRPr sz="1000" b="1">
                <a:solidFill>
                  <a:srgbClr val="818CF8"/>
                </a:solidFill>
                <a:latin typeface="Segoe UI"/>
              </a:defRPr>
            </a:pPr>
            <a:r>
              <a:t>🏁 TỔNG KẾT &amp; HÀNH ĐỘNG • Q&amp;A</a:t>
            </a:r>
          </a:p>
        </p:txBody>
      </p:sp>
      <p:sp>
        <p:nvSpPr>
          <p:cNvPr id="4" name="TextBox 3"/>
          <p:cNvSpPr txBox="1"/>
          <p:nvPr/>
        </p:nvSpPr>
        <p:spPr>
          <a:xfrm>
            <a:off x="10058400" y="365760"/>
            <a:ext cx="1371600" cy="365760"/>
          </a:xfrm>
          <a:prstGeom prst="rect">
            <a:avLst/>
          </a:prstGeom>
          <a:noFill/>
        </p:spPr>
        <p:txBody>
          <a:bodyPr wrap="none">
            <a:spAutoFit/>
          </a:bodyPr>
          <a:lstStyle/>
          <a:p>
            <a:pPr algn="r">
              <a:defRPr sz="1100" b="1">
                <a:solidFill>
                  <a:srgbClr val="38BDF8"/>
                </a:solidFill>
                <a:latin typeface="Consolas"/>
              </a:defRPr>
            </a:pPr>
            <a:r>
              <a:t>08 / 08</a:t>
            </a:r>
          </a:p>
        </p:txBody>
      </p:sp>
      <p:sp>
        <p:nvSpPr>
          <p:cNvPr id="5" name="TextBox 4"/>
          <p:cNvSpPr txBox="1"/>
          <p:nvPr/>
        </p:nvSpPr>
        <p:spPr>
          <a:xfrm>
            <a:off x="731520" y="6446520"/>
            <a:ext cx="10698480" cy="274320"/>
          </a:xfrm>
          <a:prstGeom prst="rect">
            <a:avLst/>
          </a:prstGeom>
          <a:noFill/>
        </p:spPr>
        <p:txBody>
          <a:bodyPr wrap="none">
            <a:spAutoFit/>
          </a:bodyPr>
          <a:lstStyle/>
          <a:p>
            <a:pPr>
              <a:defRPr sz="900">
                <a:solidFill>
                  <a:srgbClr val="64748B"/>
                </a:solidFill>
                <a:latin typeface="Segoe UI"/>
              </a:defRPr>
            </a:pPr>
            <a:r>
              <a:t>Google Antigravity &amp; Claude Code • Internal Tech Sharing • 2026</a:t>
            </a:r>
          </a:p>
        </p:txBody>
      </p:sp>
      <p:sp>
        <p:nvSpPr>
          <p:cNvPr id="6" name="TextBox 5"/>
          <p:cNvSpPr txBox="1"/>
          <p:nvPr/>
        </p:nvSpPr>
        <p:spPr>
          <a:xfrm>
            <a:off x="731520" y="685800"/>
            <a:ext cx="10698480" cy="1005840"/>
          </a:xfrm>
          <a:prstGeom prst="rect">
            <a:avLst/>
          </a:prstGeom>
          <a:noFill/>
        </p:spPr>
        <p:txBody>
          <a:bodyPr wrap="square" lIns="0" tIns="0" rIns="0" bIns="0">
            <a:spAutoFit/>
          </a:bodyPr>
          <a:lstStyle/>
          <a:p>
            <a:pPr>
              <a:defRPr sz="2600" b="1">
                <a:solidFill>
                  <a:srgbClr val="F8FAFC"/>
                </a:solidFill>
                <a:latin typeface="Segoe UI"/>
              </a:defRPr>
            </a:pPr>
            <a:r>
              <a:t>Bộ Hành Trang Kỹ Sư Tương Lai</a:t>
            </a:r>
          </a:p>
          <a:p>
            <a:pPr>
              <a:spcBef>
                <a:spcPts val="400"/>
              </a:spcBef>
              <a:defRPr sz="1300">
                <a:solidFill>
                  <a:srgbClr val="94A3B8"/>
                </a:solidFill>
                <a:latin typeface="Segoe UI"/>
              </a:defRPr>
            </a:pPr>
            <a:r>
              <a:t>Checklist tối ưu quy trình làm việc với AI Agent – Setup 1 lần, thảnh thơi cả ngày.</a:t>
            </a:r>
          </a:p>
        </p:txBody>
      </p:sp>
      <p:sp>
        <p:nvSpPr>
          <p:cNvPr id="7" name="Rounded Rectangle 6"/>
          <p:cNvSpPr/>
          <p:nvPr/>
        </p:nvSpPr>
        <p:spPr>
          <a:xfrm>
            <a:off x="731520" y="2011680"/>
            <a:ext cx="3383280" cy="3108960"/>
          </a:xfrm>
          <a:prstGeom prst="roundRect">
            <a:avLst/>
          </a:prstGeom>
          <a:solidFill>
            <a:srgbClr val="131B2E"/>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38BDF8"/>
                </a:solidFill>
                <a:latin typeface="Segoe UI"/>
              </a:defRPr>
            </a:pPr>
            <a:r>
              <a:t>1. BẬT REMOTE CONTROL</a:t>
            </a:r>
          </a:p>
          <a:p>
            <a:pPr>
              <a:spcBef>
                <a:spcPts val="600"/>
              </a:spcBef>
              <a:defRPr sz="1150">
                <a:solidFill>
                  <a:srgbClr val="94A3B8"/>
                </a:solidFill>
                <a:latin typeface="Segoe UI"/>
              </a:defRPr>
            </a:pPr>
            <a:r>
              <a:t>Tự do di chuyển, duyệt code trên smartphone mọi lúc mọi nơi.</a:t>
            </a:r>
          </a:p>
        </p:txBody>
      </p:sp>
      <p:sp>
        <p:nvSpPr>
          <p:cNvPr id="8" name="Rounded Rectangle 7"/>
          <p:cNvSpPr/>
          <p:nvPr/>
        </p:nvSpPr>
        <p:spPr>
          <a:xfrm>
            <a:off x="4389120" y="2011680"/>
            <a:ext cx="3383280" cy="3108960"/>
          </a:xfrm>
          <a:prstGeom prst="roundRect">
            <a:avLst/>
          </a:prstGeom>
          <a:solidFill>
            <a:srgbClr val="131B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34D399"/>
                </a:solidFill>
                <a:latin typeface="Segoe UI"/>
              </a:defRPr>
            </a:pPr>
            <a:r>
              <a:t>2. BẬT PREVENT SLEEP</a:t>
            </a:r>
          </a:p>
          <a:p>
            <a:pPr>
              <a:spcBef>
                <a:spcPts val="600"/>
              </a:spcBef>
              <a:defRPr sz="1150">
                <a:solidFill>
                  <a:srgbClr val="94A3B8"/>
                </a:solidFill>
                <a:latin typeface="Segoe UI"/>
              </a:defRPr>
            </a:pPr>
            <a:r>
              <a:t>Giữ hệ thống luôn thức, tự tin giao việc nặng chạy ngầm xuyên đêm.</a:t>
            </a:r>
          </a:p>
        </p:txBody>
      </p:sp>
      <p:sp>
        <p:nvSpPr>
          <p:cNvPr id="9" name="Rounded Rectangle 8"/>
          <p:cNvSpPr/>
          <p:nvPr/>
        </p:nvSpPr>
        <p:spPr>
          <a:xfrm>
            <a:off x="8046720" y="2011680"/>
            <a:ext cx="3383280" cy="3108960"/>
          </a:xfrm>
          <a:prstGeom prst="roundRect">
            <a:avLst/>
          </a:prstGeom>
          <a:solidFill>
            <a:srgbClr val="131B2E"/>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818CF8"/>
                </a:solidFill>
                <a:latin typeface="Segoe UI"/>
              </a:defRPr>
            </a:pPr>
            <a:r>
              <a:t>3. CLAUDE CODE + OLLAMA</a:t>
            </a:r>
          </a:p>
          <a:p>
            <a:pPr>
              <a:spcBef>
                <a:spcPts val="600"/>
              </a:spcBef>
              <a:defRPr sz="1150">
                <a:solidFill>
                  <a:srgbClr val="94A3B8"/>
                </a:solidFill>
                <a:latin typeface="Segoe UI"/>
              </a:defRPr>
            </a:pPr>
            <a:r>
              <a:t>Bảo vệ mã nguồn nhạy cảm, tiết kiệm 100% token với model open-source.</a:t>
            </a:r>
          </a:p>
        </p:txBody>
      </p:sp>
      <p:sp>
        <p:nvSpPr>
          <p:cNvPr id="10" name="Rounded Rectangle 9"/>
          <p:cNvSpPr/>
          <p:nvPr/>
        </p:nvSpPr>
        <p:spPr>
          <a:xfrm>
            <a:off x="731520" y="5303520"/>
            <a:ext cx="10698480" cy="868680"/>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400" b="1">
                <a:solidFill>
                  <a:srgbClr val="38BDF8"/>
                </a:solidFill>
                <a:latin typeface="Segoe UI"/>
              </a:defRPr>
            </a:pPr>
            <a:r>
              <a:t>💬 CẢM ƠN ANH EM ĐÃ LẮNG NGHE! CHÚNG TA CÙNG THẢO LUẬN &amp; DEMO TRỰC TIẾP NHÉ!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